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8288000" cy="10287000"/>
  <p:notesSz cx="6858000" cy="9144000"/>
  <p:embeddedFontLs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  <p:embeddedFont>
      <p:font typeface="Kollektif" panose="020B0604020202020204" charset="0"/>
      <p:regular r:id="rId25"/>
    </p:embeddedFont>
    <p:embeddedFont>
      <p:font typeface="Kollektif Bold" panose="020B0604020202020204" charset="0"/>
      <p:regular r:id="rId26"/>
    </p:embeddedFont>
    <p:embeddedFont>
      <p:font typeface="League Spartan" panose="020B0604020202020204" charset="0"/>
      <p:regular r:id="rId27"/>
    </p:embeddedFont>
    <p:embeddedFont>
      <p:font typeface="Montserrat Bold" panose="020B060402020202020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1D58F1-D40B-5FCF-8B53-CFEE215F0F11}" v="4" dt="2024-11-15T05:46:20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s Venedict  L. Cipriano" userId="S::johans_cipriano@dlsu.edu.ph::bd059c26-018a-4184-a22f-310fb6d69330" providerId="AD" clId="Web-{7F1D58F1-D40B-5FCF-8B53-CFEE215F0F11}"/>
    <pc:docChg chg="modSld">
      <pc:chgData name="Johans Venedict  L. Cipriano" userId="S::johans_cipriano@dlsu.edu.ph::bd059c26-018a-4184-a22f-310fb6d69330" providerId="AD" clId="Web-{7F1D58F1-D40B-5FCF-8B53-CFEE215F0F11}" dt="2024-11-15T05:46:20.854" v="2" actId="14100"/>
      <pc:docMkLst>
        <pc:docMk/>
      </pc:docMkLst>
      <pc:sldChg chg="modSp">
        <pc:chgData name="Johans Venedict  L. Cipriano" userId="S::johans_cipriano@dlsu.edu.ph::bd059c26-018a-4184-a22f-310fb6d69330" providerId="AD" clId="Web-{7F1D58F1-D40B-5FCF-8B53-CFEE215F0F11}" dt="2024-11-15T05:46:20.854" v="2" actId="14100"/>
        <pc:sldMkLst>
          <pc:docMk/>
          <pc:sldMk cId="0" sldId="268"/>
        </pc:sldMkLst>
        <pc:spChg chg="mod">
          <ac:chgData name="Johans Venedict  L. Cipriano" userId="S::johans_cipriano@dlsu.edu.ph::bd059c26-018a-4184-a22f-310fb6d69330" providerId="AD" clId="Web-{7F1D58F1-D40B-5FCF-8B53-CFEE215F0F11}" dt="2024-11-15T05:46:20.854" v="2" actId="14100"/>
          <ac:spMkLst>
            <pc:docMk/>
            <pc:sldMk cId="0" sldId="268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svg"/><Relationship Id="rId7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8897563" y="-1800403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7"/>
                </a:moveTo>
                <a:lnTo>
                  <a:pt x="11205780" y="10911627"/>
                </a:lnTo>
                <a:lnTo>
                  <a:pt x="11205780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803481">
            <a:off x="-1716255" y="-1281219"/>
            <a:ext cx="7948677" cy="19539727"/>
            <a:chOff x="0" y="0"/>
            <a:chExt cx="2093479" cy="5146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3479" cy="5146266"/>
            </a:xfrm>
            <a:custGeom>
              <a:avLst/>
              <a:gdLst/>
              <a:ahLst/>
              <a:cxnLst/>
              <a:rect l="l" t="t" r="r" b="b"/>
              <a:pathLst>
                <a:path w="2093479" h="5146266">
                  <a:moveTo>
                    <a:pt x="0" y="0"/>
                  </a:moveTo>
                  <a:lnTo>
                    <a:pt x="2093479" y="0"/>
                  </a:lnTo>
                  <a:lnTo>
                    <a:pt x="2093479" y="5146266"/>
                  </a:lnTo>
                  <a:lnTo>
                    <a:pt x="0" y="5146266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93479" cy="5193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289240" flipH="1">
            <a:off x="-2960106" y="-896765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7"/>
                </a:lnTo>
                <a:lnTo>
                  <a:pt x="6656198" y="5258397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23902" y="3329424"/>
            <a:ext cx="13235398" cy="262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7"/>
              </a:lnSpc>
            </a:pPr>
            <a:r>
              <a:rPr lang="en-US" sz="5005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Study on the Performance and Interference Mitigation of Wi-Fi 6 &amp; 7 Technologies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40351" y="6907559"/>
            <a:ext cx="6518949" cy="1581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03"/>
              </a:lnSpc>
            </a:pPr>
            <a:r>
              <a:rPr lang="en-US" sz="4502" spc="1103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NIS-S11- 7</a:t>
            </a:r>
          </a:p>
          <a:p>
            <a:pPr algn="r">
              <a:lnSpc>
                <a:spcPts val="6303"/>
              </a:lnSpc>
            </a:pPr>
            <a:endParaRPr lang="en-US" sz="4502" spc="1103">
              <a:solidFill>
                <a:srgbClr val="1C3F6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7993" y="7800232"/>
            <a:ext cx="6949850" cy="195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3722">
                <a:solidFill>
                  <a:srgbClr val="F3F6FA"/>
                </a:solidFill>
                <a:latin typeface="Kollektif"/>
                <a:ea typeface="Kollektif"/>
                <a:cs typeface="Kollektif"/>
                <a:sym typeface="Kollektif"/>
              </a:rPr>
              <a:t>Chung, Ford Ainstein</a:t>
            </a:r>
          </a:p>
          <a:p>
            <a:pPr algn="l">
              <a:lnSpc>
                <a:spcPts val="5210"/>
              </a:lnSpc>
            </a:pPr>
            <a:r>
              <a:rPr lang="en-US" sz="3722">
                <a:solidFill>
                  <a:srgbClr val="F3F6FA"/>
                </a:solidFill>
                <a:latin typeface="Kollektif"/>
                <a:ea typeface="Kollektif"/>
                <a:cs typeface="Kollektif"/>
                <a:sym typeface="Kollektif"/>
              </a:rPr>
              <a:t>Cipriano, Johans Venedict</a:t>
            </a:r>
          </a:p>
          <a:p>
            <a:pPr algn="l">
              <a:lnSpc>
                <a:spcPts val="5210"/>
              </a:lnSpc>
            </a:pPr>
            <a:r>
              <a:rPr lang="en-US" sz="3722">
                <a:solidFill>
                  <a:srgbClr val="F3F6FA"/>
                </a:solidFill>
                <a:latin typeface="Kollektif"/>
                <a:ea typeface="Kollektif"/>
                <a:cs typeface="Kollektif"/>
                <a:sym typeface="Kollektif"/>
              </a:rPr>
              <a:t>Valenzuela, Shanley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41606" y="923925"/>
            <a:ext cx="5517694" cy="1688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22"/>
              </a:lnSpc>
            </a:pPr>
            <a:r>
              <a:rPr lang="en-US" sz="4801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Network Simulation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275424" y="6810170"/>
            <a:ext cx="3983876" cy="3082524"/>
          </a:xfrm>
          <a:custGeom>
            <a:avLst/>
            <a:gdLst/>
            <a:ahLst/>
            <a:cxnLst/>
            <a:rect l="l" t="t" r="r" b="b"/>
            <a:pathLst>
              <a:path w="3983876" h="3082524">
                <a:moveTo>
                  <a:pt x="0" y="0"/>
                </a:moveTo>
                <a:lnTo>
                  <a:pt x="3983876" y="0"/>
                </a:lnTo>
                <a:lnTo>
                  <a:pt x="3983876" y="3082524"/>
                </a:lnTo>
                <a:lnTo>
                  <a:pt x="0" y="3082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14330"/>
            <a:ext cx="11350976" cy="1409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 of This Study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06744"/>
            <a:ext cx="15333142" cy="396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65"/>
              </a:lnSpc>
            </a:pPr>
            <a:r>
              <a:rPr lang="en-US" sz="4474" spc="-393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Compare Advancements in Wi-Fi 6 and Wi-Fi 7, Focusing on Improvements in Network Performance and Addressing Interference Issues in Wireless Ethernet Networks to Understand the Evolution and Future of Internet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029962">
            <a:off x="11805626" y="1950659"/>
            <a:ext cx="15424018" cy="8073552"/>
            <a:chOff x="0" y="0"/>
            <a:chExt cx="4062293" cy="2126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2293" cy="2126368"/>
            </a:xfrm>
            <a:custGeom>
              <a:avLst/>
              <a:gdLst/>
              <a:ahLst/>
              <a:cxnLst/>
              <a:rect l="l" t="t" r="r" b="b"/>
              <a:pathLst>
                <a:path w="4062293" h="2126368">
                  <a:moveTo>
                    <a:pt x="0" y="0"/>
                  </a:moveTo>
                  <a:lnTo>
                    <a:pt x="4062293" y="0"/>
                  </a:lnTo>
                  <a:lnTo>
                    <a:pt x="4062293" y="2126368"/>
                  </a:lnTo>
                  <a:lnTo>
                    <a:pt x="0" y="212636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62293" cy="217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472489" y="5987435"/>
            <a:ext cx="4740506" cy="3229470"/>
          </a:xfrm>
          <a:custGeom>
            <a:avLst/>
            <a:gdLst/>
            <a:ahLst/>
            <a:cxnLst/>
            <a:rect l="l" t="t" r="r" b="b"/>
            <a:pathLst>
              <a:path w="4740506" h="3229470">
                <a:moveTo>
                  <a:pt x="0" y="0"/>
                </a:moveTo>
                <a:lnTo>
                  <a:pt x="4740506" y="0"/>
                </a:lnTo>
                <a:lnTo>
                  <a:pt x="4740506" y="3229469"/>
                </a:lnTo>
                <a:lnTo>
                  <a:pt x="0" y="3229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880121"/>
            <a:ext cx="10987128" cy="10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6 (802.11ax)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3024" y="3304548"/>
            <a:ext cx="12646171" cy="268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733" lvl="1" indent="-437367" algn="just">
              <a:lnSpc>
                <a:spcPts val="7211"/>
              </a:lnSpc>
              <a:buFont typeface="Arial"/>
              <a:buChar char="•"/>
            </a:pPr>
            <a:r>
              <a:rPr lang="en-US" sz="4051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Launched in 2019</a:t>
            </a:r>
          </a:p>
          <a:p>
            <a:pPr marL="874733" lvl="1" indent="-437367" algn="just">
              <a:lnSpc>
                <a:spcPts val="7211"/>
              </a:lnSpc>
              <a:buFont typeface="Arial"/>
              <a:buChar char="•"/>
            </a:pPr>
            <a:r>
              <a:rPr lang="en-US" sz="4051" spc="-170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Designed to address challenges in crowded environments</a:t>
            </a:r>
          </a:p>
          <a:p>
            <a:pPr algn="just">
              <a:lnSpc>
                <a:spcPts val="7211"/>
              </a:lnSpc>
            </a:pPr>
            <a:endParaRPr lang="en-US" sz="4051" spc="-170">
              <a:solidFill>
                <a:srgbClr val="0B132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186689" y="-2827385"/>
            <a:ext cx="6989146" cy="11017126"/>
          </a:xfrm>
          <a:custGeom>
            <a:avLst/>
            <a:gdLst/>
            <a:ahLst/>
            <a:cxnLst/>
            <a:rect l="l" t="t" r="r" b="b"/>
            <a:pathLst>
              <a:path w="6989146" h="11017126">
                <a:moveTo>
                  <a:pt x="0" y="0"/>
                </a:moveTo>
                <a:lnTo>
                  <a:pt x="6989146" y="0"/>
                </a:lnTo>
                <a:lnTo>
                  <a:pt x="6989146" y="11017126"/>
                </a:lnTo>
                <a:lnTo>
                  <a:pt x="0" y="11017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2636063" y="3953568"/>
            <a:ext cx="969644" cy="4071796"/>
            <a:chOff x="0" y="0"/>
            <a:chExt cx="282923" cy="11880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2923" cy="1188070"/>
            </a:xfrm>
            <a:custGeom>
              <a:avLst/>
              <a:gdLst/>
              <a:ahLst/>
              <a:cxnLst/>
              <a:rect l="l" t="t" r="r" b="b"/>
              <a:pathLst>
                <a:path w="282923" h="1188070">
                  <a:moveTo>
                    <a:pt x="0" y="0"/>
                  </a:moveTo>
                  <a:lnTo>
                    <a:pt x="282923" y="0"/>
                  </a:lnTo>
                  <a:lnTo>
                    <a:pt x="282923" y="1188070"/>
                  </a:lnTo>
                  <a:lnTo>
                    <a:pt x="0" y="118807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82923" cy="123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114300"/>
            <a:ext cx="8267262" cy="69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7"/>
              </a:lnSpc>
            </a:pPr>
            <a:r>
              <a:rPr lang="en-US" sz="5303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6 Comparison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38576" y="805513"/>
          <a:ext cx="17367720" cy="9283307"/>
        </p:xfrm>
        <a:graphic>
          <a:graphicData uri="http://schemas.openxmlformats.org/drawingml/2006/table">
            <a:tbl>
              <a:tblPr/>
              <a:tblGrid>
                <a:gridCol w="289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4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46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01325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142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IEE 802.11 Protocol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142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Release Date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142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Frequency Bands (GHz)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142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Bandwidth (MHz)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142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Modulation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142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Maximum Linkrate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E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314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(802.11)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1997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NA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NA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NA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314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1 (802.11b)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1999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22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DSSS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11 Mbps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314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2 (802.11a)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1999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5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OFDM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54 Mbps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314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3 (802.11g)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2003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DSSS, OFDM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54 Mbps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0314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4 (802.11n)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2008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2.4/5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20/40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64-QAM OFDM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1.2 Gbps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466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5 (802.11ac)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2012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2.4/5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20/40/80/160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256-QAM OFDM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 3.5 Gbps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466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6 (802.11ax)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2019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2.4/5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20/40/80/160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1024-QAM OFDM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9.6 Gbps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7480"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27627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Wi-Fi 6E (802.11ax)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2021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2.4/5/6 GHz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20/40/80/160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1024-QAM OFDM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80"/>
                        </a:lnSpc>
                        <a:defRPr/>
                      </a:pPr>
                      <a:r>
                        <a:rPr lang="en-US" sz="2342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9.6 Gbps</a:t>
                      </a:r>
                      <a:endParaRPr lang="en-US" sz="1100"/>
                    </a:p>
                  </a:txBody>
                  <a:tcPr marL="52164" marR="52164" marT="52164" marB="52164" anchor="ctr">
                    <a:lnL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41" cap="flat" cmpd="sng" algn="ctr">
                      <a:solidFill>
                        <a:srgbClr val="2677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16301" y="1912318"/>
            <a:ext cx="6076626" cy="2050861"/>
          </a:xfrm>
          <a:custGeom>
            <a:avLst/>
            <a:gdLst/>
            <a:ahLst/>
            <a:cxnLst/>
            <a:rect l="l" t="t" r="r" b="b"/>
            <a:pathLst>
              <a:path w="6076626" h="2050861">
                <a:moveTo>
                  <a:pt x="0" y="0"/>
                </a:moveTo>
                <a:lnTo>
                  <a:pt x="6076626" y="0"/>
                </a:lnTo>
                <a:lnTo>
                  <a:pt x="6076626" y="2050861"/>
                </a:lnTo>
                <a:lnTo>
                  <a:pt x="0" y="2050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04007" y="2091855"/>
            <a:ext cx="1540133" cy="1162360"/>
            <a:chOff x="0" y="0"/>
            <a:chExt cx="812800" cy="613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613432"/>
            </a:xfrm>
            <a:custGeom>
              <a:avLst/>
              <a:gdLst/>
              <a:ahLst/>
              <a:cxnLst/>
              <a:rect l="l" t="t" r="r" b="b"/>
              <a:pathLst>
                <a:path w="812800" h="613432">
                  <a:moveTo>
                    <a:pt x="174572" y="0"/>
                  </a:moveTo>
                  <a:lnTo>
                    <a:pt x="638228" y="0"/>
                  </a:lnTo>
                  <a:cubicBezTo>
                    <a:pt x="734641" y="0"/>
                    <a:pt x="812800" y="78159"/>
                    <a:pt x="812800" y="174572"/>
                  </a:cubicBezTo>
                  <a:lnTo>
                    <a:pt x="812800" y="438860"/>
                  </a:lnTo>
                  <a:cubicBezTo>
                    <a:pt x="812800" y="535273"/>
                    <a:pt x="734641" y="613432"/>
                    <a:pt x="638228" y="613432"/>
                  </a:cubicBezTo>
                  <a:lnTo>
                    <a:pt x="174572" y="613432"/>
                  </a:lnTo>
                  <a:cubicBezTo>
                    <a:pt x="78159" y="613432"/>
                    <a:pt x="0" y="535273"/>
                    <a:pt x="0" y="438860"/>
                  </a:cubicBezTo>
                  <a:lnTo>
                    <a:pt x="0" y="174572"/>
                  </a:lnTo>
                  <a:cubicBezTo>
                    <a:pt x="0" y="78159"/>
                    <a:pt x="78159" y="0"/>
                    <a:pt x="174572" y="0"/>
                  </a:cubicBezTo>
                  <a:close/>
                </a:path>
              </a:pathLst>
            </a:custGeom>
            <a:solidFill>
              <a:srgbClr val="C5E3F2">
                <a:alpha val="4666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651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6667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271" y="100693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6 Features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54614" y="2070984"/>
            <a:ext cx="1540133" cy="1055983"/>
            <a:chOff x="0" y="0"/>
            <a:chExt cx="812800" cy="5572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557291"/>
            </a:xfrm>
            <a:custGeom>
              <a:avLst/>
              <a:gdLst/>
              <a:ahLst/>
              <a:cxnLst/>
              <a:rect l="l" t="t" r="r" b="b"/>
              <a:pathLst>
                <a:path w="812800" h="557291">
                  <a:moveTo>
                    <a:pt x="174572" y="0"/>
                  </a:moveTo>
                  <a:lnTo>
                    <a:pt x="638228" y="0"/>
                  </a:lnTo>
                  <a:cubicBezTo>
                    <a:pt x="734641" y="0"/>
                    <a:pt x="812800" y="78159"/>
                    <a:pt x="812800" y="174572"/>
                  </a:cubicBezTo>
                  <a:lnTo>
                    <a:pt x="812800" y="382719"/>
                  </a:lnTo>
                  <a:cubicBezTo>
                    <a:pt x="812800" y="479133"/>
                    <a:pt x="734641" y="557291"/>
                    <a:pt x="638228" y="557291"/>
                  </a:cubicBezTo>
                  <a:lnTo>
                    <a:pt x="174572" y="557291"/>
                  </a:lnTo>
                  <a:cubicBezTo>
                    <a:pt x="78159" y="557291"/>
                    <a:pt x="0" y="479133"/>
                    <a:pt x="0" y="382719"/>
                  </a:cubicBezTo>
                  <a:lnTo>
                    <a:pt x="0" y="174572"/>
                  </a:lnTo>
                  <a:cubicBezTo>
                    <a:pt x="0" y="78159"/>
                    <a:pt x="78159" y="0"/>
                    <a:pt x="174572" y="0"/>
                  </a:cubicBezTo>
                  <a:close/>
                </a:path>
              </a:pathLst>
            </a:custGeom>
            <a:solidFill>
              <a:srgbClr val="3F51B5">
                <a:alpha val="46667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595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6667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6042" y="2070984"/>
            <a:ext cx="946670" cy="1183232"/>
            <a:chOff x="0" y="0"/>
            <a:chExt cx="1147341" cy="1434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7341" cy="1434050"/>
            </a:xfrm>
            <a:custGeom>
              <a:avLst/>
              <a:gdLst/>
              <a:ahLst/>
              <a:cxnLst/>
              <a:rect l="l" t="t" r="r" b="b"/>
              <a:pathLst>
                <a:path w="1147341" h="1434050">
                  <a:moveTo>
                    <a:pt x="123670" y="0"/>
                  </a:moveTo>
                  <a:lnTo>
                    <a:pt x="1023671" y="0"/>
                  </a:lnTo>
                  <a:cubicBezTo>
                    <a:pt x="1056470" y="0"/>
                    <a:pt x="1087927" y="13030"/>
                    <a:pt x="1111119" y="36222"/>
                  </a:cubicBezTo>
                  <a:cubicBezTo>
                    <a:pt x="1134312" y="59415"/>
                    <a:pt x="1147341" y="90871"/>
                    <a:pt x="1147341" y="123670"/>
                  </a:cubicBezTo>
                  <a:lnTo>
                    <a:pt x="1147341" y="1310379"/>
                  </a:lnTo>
                  <a:cubicBezTo>
                    <a:pt x="1147341" y="1343179"/>
                    <a:pt x="1134312" y="1374635"/>
                    <a:pt x="1111119" y="1397827"/>
                  </a:cubicBezTo>
                  <a:cubicBezTo>
                    <a:pt x="1087927" y="1421020"/>
                    <a:pt x="1056470" y="1434050"/>
                    <a:pt x="1023671" y="1434050"/>
                  </a:cubicBezTo>
                  <a:lnTo>
                    <a:pt x="123670" y="1434050"/>
                  </a:lnTo>
                  <a:cubicBezTo>
                    <a:pt x="90871" y="1434050"/>
                    <a:pt x="59415" y="1421020"/>
                    <a:pt x="36222" y="1397827"/>
                  </a:cubicBezTo>
                  <a:cubicBezTo>
                    <a:pt x="13030" y="1374635"/>
                    <a:pt x="0" y="1343179"/>
                    <a:pt x="0" y="1310379"/>
                  </a:cubicBezTo>
                  <a:lnTo>
                    <a:pt x="0" y="123670"/>
                  </a:lnTo>
                  <a:cubicBezTo>
                    <a:pt x="0" y="90871"/>
                    <a:pt x="13030" y="59415"/>
                    <a:pt x="36222" y="36222"/>
                  </a:cubicBezTo>
                  <a:cubicBezTo>
                    <a:pt x="59415" y="13030"/>
                    <a:pt x="90871" y="0"/>
                    <a:pt x="123670" y="0"/>
                  </a:cubicBezTo>
                  <a:close/>
                </a:path>
              </a:pathLst>
            </a:custGeom>
            <a:solidFill>
              <a:srgbClr val="00703C">
                <a:alpha val="46667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47341" cy="1472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>
                      <a:alpha val="46667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6610955" y="1037781"/>
            <a:ext cx="5066090" cy="12417196"/>
            <a:chOff x="0" y="0"/>
            <a:chExt cx="979955" cy="24019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9955" cy="2401911"/>
            </a:xfrm>
            <a:custGeom>
              <a:avLst/>
              <a:gdLst/>
              <a:ahLst/>
              <a:cxnLst/>
              <a:rect l="l" t="t" r="r" b="b"/>
              <a:pathLst>
                <a:path w="979955" h="2401911">
                  <a:moveTo>
                    <a:pt x="10697" y="0"/>
                  </a:moveTo>
                  <a:lnTo>
                    <a:pt x="969258" y="0"/>
                  </a:lnTo>
                  <a:cubicBezTo>
                    <a:pt x="975166" y="0"/>
                    <a:pt x="979955" y="4789"/>
                    <a:pt x="979955" y="10697"/>
                  </a:cubicBezTo>
                  <a:lnTo>
                    <a:pt x="979955" y="2391213"/>
                  </a:lnTo>
                  <a:cubicBezTo>
                    <a:pt x="979955" y="2397121"/>
                    <a:pt x="975166" y="2401911"/>
                    <a:pt x="969258" y="2401911"/>
                  </a:cubicBezTo>
                  <a:lnTo>
                    <a:pt x="10697" y="2401911"/>
                  </a:lnTo>
                  <a:cubicBezTo>
                    <a:pt x="4789" y="2401911"/>
                    <a:pt x="0" y="2397121"/>
                    <a:pt x="0" y="2391213"/>
                  </a:cubicBezTo>
                  <a:lnTo>
                    <a:pt x="0" y="10697"/>
                  </a:lnTo>
                  <a:cubicBezTo>
                    <a:pt x="0" y="4789"/>
                    <a:pt x="4789" y="0"/>
                    <a:pt x="10697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79955" cy="244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3660451" y="6596694"/>
            <a:ext cx="9006692" cy="0"/>
          </a:xfrm>
          <a:prstGeom prst="line">
            <a:avLst/>
          </a:prstGeom>
          <a:ln w="57150" cap="flat">
            <a:solidFill>
              <a:srgbClr val="0B132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V="1">
            <a:off x="6674074" y="1343873"/>
            <a:ext cx="6118170" cy="375342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8" name="AutoShape 18"/>
          <p:cNvSpPr/>
          <p:nvPr/>
        </p:nvSpPr>
        <p:spPr>
          <a:xfrm>
            <a:off x="8044269" y="1826644"/>
            <a:ext cx="5053539" cy="609227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9" name="AutoShape 19"/>
          <p:cNvSpPr/>
          <p:nvPr/>
        </p:nvSpPr>
        <p:spPr>
          <a:xfrm flipV="1">
            <a:off x="9524680" y="3950320"/>
            <a:ext cx="3573127" cy="12859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0" name="Freeform 20"/>
          <p:cNvSpPr/>
          <p:nvPr/>
        </p:nvSpPr>
        <p:spPr>
          <a:xfrm>
            <a:off x="2925094" y="2435872"/>
            <a:ext cx="1481554" cy="1003753"/>
          </a:xfrm>
          <a:custGeom>
            <a:avLst/>
            <a:gdLst/>
            <a:ahLst/>
            <a:cxnLst/>
            <a:rect l="l" t="t" r="r" b="b"/>
            <a:pathLst>
              <a:path w="1481554" h="1003753">
                <a:moveTo>
                  <a:pt x="0" y="0"/>
                </a:moveTo>
                <a:lnTo>
                  <a:pt x="1481554" y="0"/>
                </a:lnTo>
                <a:lnTo>
                  <a:pt x="1481554" y="1003753"/>
                </a:lnTo>
                <a:lnTo>
                  <a:pt x="0" y="1003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/>
          <p:cNvSpPr/>
          <p:nvPr/>
        </p:nvSpPr>
        <p:spPr>
          <a:xfrm flipV="1">
            <a:off x="4704915" y="3070322"/>
            <a:ext cx="753013" cy="0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 rot="720786">
            <a:off x="13492514" y="2175733"/>
            <a:ext cx="647946" cy="846485"/>
          </a:xfrm>
          <a:custGeom>
            <a:avLst/>
            <a:gdLst/>
            <a:ahLst/>
            <a:cxnLst/>
            <a:rect l="l" t="t" r="r" b="b"/>
            <a:pathLst>
              <a:path w="647946" h="846485">
                <a:moveTo>
                  <a:pt x="0" y="0"/>
                </a:moveTo>
                <a:lnTo>
                  <a:pt x="647946" y="0"/>
                </a:lnTo>
                <a:lnTo>
                  <a:pt x="647946" y="846484"/>
                </a:lnTo>
                <a:lnTo>
                  <a:pt x="0" y="846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411517" y="3439625"/>
            <a:ext cx="1135244" cy="852465"/>
          </a:xfrm>
          <a:custGeom>
            <a:avLst/>
            <a:gdLst/>
            <a:ahLst/>
            <a:cxnLst/>
            <a:rect l="l" t="t" r="r" b="b"/>
            <a:pathLst>
              <a:path w="1135244" h="852465">
                <a:moveTo>
                  <a:pt x="0" y="0"/>
                </a:moveTo>
                <a:lnTo>
                  <a:pt x="1135244" y="0"/>
                </a:lnTo>
                <a:lnTo>
                  <a:pt x="1135244" y="852465"/>
                </a:lnTo>
                <a:lnTo>
                  <a:pt x="0" y="852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263193" y="980568"/>
            <a:ext cx="1106589" cy="738648"/>
          </a:xfrm>
          <a:custGeom>
            <a:avLst/>
            <a:gdLst/>
            <a:ahLst/>
            <a:cxnLst/>
            <a:rect l="l" t="t" r="r" b="b"/>
            <a:pathLst>
              <a:path w="1106589" h="738648">
                <a:moveTo>
                  <a:pt x="0" y="0"/>
                </a:moveTo>
                <a:lnTo>
                  <a:pt x="1106588" y="0"/>
                </a:lnTo>
                <a:lnTo>
                  <a:pt x="1106588" y="738647"/>
                </a:lnTo>
                <a:lnTo>
                  <a:pt x="0" y="7386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660451" y="5331927"/>
            <a:ext cx="5671491" cy="104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2"/>
              </a:lnSpc>
            </a:pPr>
            <a:r>
              <a:rPr lang="en-US" sz="6094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OFDMA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25094" y="6790958"/>
            <a:ext cx="12427504" cy="314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Subdividing Channels into smaller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Resource Units</a:t>
            </a:r>
          </a:p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Allowing multiple Devices to transmit Data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simultaneously</a:t>
            </a:r>
          </a:p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Allows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better use</a:t>
            </a: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 of the Channel</a:t>
            </a:r>
          </a:p>
          <a:p>
            <a:pPr algn="just">
              <a:lnSpc>
                <a:spcPts val="6323"/>
              </a:lnSpc>
            </a:pPr>
            <a:endParaRPr lang="en-US" sz="3552">
              <a:solidFill>
                <a:srgbClr val="0B132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18042" y="5318980"/>
            <a:ext cx="6062961" cy="105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95"/>
              </a:lnSpc>
            </a:pPr>
            <a:r>
              <a:rPr lang="en-US" sz="3068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Orthogonal Frequency Device Multiple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6610955" y="1037781"/>
            <a:ext cx="5066090" cy="12417196"/>
            <a:chOff x="0" y="0"/>
            <a:chExt cx="979955" cy="2401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9955" cy="2401911"/>
            </a:xfrm>
            <a:custGeom>
              <a:avLst/>
              <a:gdLst/>
              <a:ahLst/>
              <a:cxnLst/>
              <a:rect l="l" t="t" r="r" b="b"/>
              <a:pathLst>
                <a:path w="979955" h="2401911">
                  <a:moveTo>
                    <a:pt x="10697" y="0"/>
                  </a:moveTo>
                  <a:lnTo>
                    <a:pt x="969258" y="0"/>
                  </a:lnTo>
                  <a:cubicBezTo>
                    <a:pt x="975166" y="0"/>
                    <a:pt x="979955" y="4789"/>
                    <a:pt x="979955" y="10697"/>
                  </a:cubicBezTo>
                  <a:lnTo>
                    <a:pt x="979955" y="2391213"/>
                  </a:lnTo>
                  <a:cubicBezTo>
                    <a:pt x="979955" y="2397121"/>
                    <a:pt x="975166" y="2401911"/>
                    <a:pt x="969258" y="2401911"/>
                  </a:cubicBezTo>
                  <a:lnTo>
                    <a:pt x="10697" y="2401911"/>
                  </a:lnTo>
                  <a:cubicBezTo>
                    <a:pt x="4789" y="2401911"/>
                    <a:pt x="0" y="2397121"/>
                    <a:pt x="0" y="2391213"/>
                  </a:cubicBezTo>
                  <a:lnTo>
                    <a:pt x="0" y="10697"/>
                  </a:lnTo>
                  <a:cubicBezTo>
                    <a:pt x="0" y="4789"/>
                    <a:pt x="4789" y="0"/>
                    <a:pt x="10697" y="0"/>
                  </a:cubicBezTo>
                  <a:close/>
                </a:path>
              </a:pathLst>
            </a:custGeom>
            <a:solidFill>
              <a:srgbClr val="00703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79955" cy="244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6610955" y="1037781"/>
            <a:ext cx="5066090" cy="12417196"/>
            <a:chOff x="0" y="0"/>
            <a:chExt cx="979955" cy="24019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9955" cy="2401911"/>
            </a:xfrm>
            <a:custGeom>
              <a:avLst/>
              <a:gdLst/>
              <a:ahLst/>
              <a:cxnLst/>
              <a:rect l="l" t="t" r="r" b="b"/>
              <a:pathLst>
                <a:path w="979955" h="2401911">
                  <a:moveTo>
                    <a:pt x="10697" y="0"/>
                  </a:moveTo>
                  <a:lnTo>
                    <a:pt x="969258" y="0"/>
                  </a:lnTo>
                  <a:cubicBezTo>
                    <a:pt x="975166" y="0"/>
                    <a:pt x="979955" y="4789"/>
                    <a:pt x="979955" y="10697"/>
                  </a:cubicBezTo>
                  <a:lnTo>
                    <a:pt x="979955" y="2391213"/>
                  </a:lnTo>
                  <a:cubicBezTo>
                    <a:pt x="979955" y="2397121"/>
                    <a:pt x="975166" y="2401911"/>
                    <a:pt x="969258" y="2401911"/>
                  </a:cubicBezTo>
                  <a:lnTo>
                    <a:pt x="10697" y="2401911"/>
                  </a:lnTo>
                  <a:cubicBezTo>
                    <a:pt x="4789" y="2401911"/>
                    <a:pt x="0" y="2397121"/>
                    <a:pt x="0" y="2391213"/>
                  </a:cubicBezTo>
                  <a:lnTo>
                    <a:pt x="0" y="10697"/>
                  </a:lnTo>
                  <a:cubicBezTo>
                    <a:pt x="0" y="4789"/>
                    <a:pt x="4789" y="0"/>
                    <a:pt x="10697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79955" cy="244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3660451" y="6596694"/>
            <a:ext cx="9006692" cy="0"/>
          </a:xfrm>
          <a:prstGeom prst="line">
            <a:avLst/>
          </a:prstGeom>
          <a:ln w="57150" cap="flat">
            <a:solidFill>
              <a:srgbClr val="0B132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18271" y="100693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6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60451" y="5331927"/>
            <a:ext cx="5671491" cy="104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2"/>
              </a:lnSpc>
            </a:pPr>
            <a:r>
              <a:rPr lang="en-US" sz="6094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MU-MIMO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85044" y="6790958"/>
            <a:ext cx="11917912" cy="314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Uses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Spatial Multiplexing</a:t>
            </a: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 on the same Bandwidth</a:t>
            </a:r>
          </a:p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Supports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8 Devices</a:t>
            </a: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 for simultaneous Connections</a:t>
            </a:r>
          </a:p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Supports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Uplink</a:t>
            </a: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 &amp; Downlink MU-MIMO </a:t>
            </a:r>
          </a:p>
          <a:p>
            <a:pPr algn="just">
              <a:lnSpc>
                <a:spcPts val="6323"/>
              </a:lnSpc>
            </a:pPr>
            <a:endParaRPr lang="en-US" sz="3552">
              <a:solidFill>
                <a:srgbClr val="0B132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28734" y="1112572"/>
            <a:ext cx="3621053" cy="655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3891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OFDMA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72441" y="1057267"/>
            <a:ext cx="3870994" cy="6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42"/>
              </a:lnSpc>
            </a:pPr>
            <a:r>
              <a:rPr lang="en-US" sz="195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Orthogonal Frequency Device Multiple Access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8469" y="5295458"/>
            <a:ext cx="5301704" cy="105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95"/>
              </a:lnSpc>
            </a:pPr>
            <a:r>
              <a:rPr lang="en-US" sz="3068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Multi-User, Multiple input, Multiple output</a:t>
            </a:r>
          </a:p>
        </p:txBody>
      </p:sp>
      <p:sp>
        <p:nvSpPr>
          <p:cNvPr id="15" name="Freeform 15"/>
          <p:cNvSpPr/>
          <p:nvPr/>
        </p:nvSpPr>
        <p:spPr>
          <a:xfrm>
            <a:off x="4020284" y="2813001"/>
            <a:ext cx="1775568" cy="1202947"/>
          </a:xfrm>
          <a:custGeom>
            <a:avLst/>
            <a:gdLst/>
            <a:ahLst/>
            <a:cxnLst/>
            <a:rect l="l" t="t" r="r" b="b"/>
            <a:pathLst>
              <a:path w="1775568" h="1202947">
                <a:moveTo>
                  <a:pt x="0" y="0"/>
                </a:moveTo>
                <a:lnTo>
                  <a:pt x="1775568" y="0"/>
                </a:lnTo>
                <a:lnTo>
                  <a:pt x="1775568" y="1202947"/>
                </a:lnTo>
                <a:lnTo>
                  <a:pt x="0" y="1202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685549" y="2821440"/>
            <a:ext cx="914342" cy="1194508"/>
          </a:xfrm>
          <a:custGeom>
            <a:avLst/>
            <a:gdLst/>
            <a:ahLst/>
            <a:cxnLst/>
            <a:rect l="l" t="t" r="r" b="b"/>
            <a:pathLst>
              <a:path w="914342" h="1194508">
                <a:moveTo>
                  <a:pt x="0" y="0"/>
                </a:moveTo>
                <a:lnTo>
                  <a:pt x="914342" y="0"/>
                </a:lnTo>
                <a:lnTo>
                  <a:pt x="914342" y="1194508"/>
                </a:lnTo>
                <a:lnTo>
                  <a:pt x="0" y="119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665728" y="2813001"/>
            <a:ext cx="1601988" cy="1202947"/>
          </a:xfrm>
          <a:custGeom>
            <a:avLst/>
            <a:gdLst/>
            <a:ahLst/>
            <a:cxnLst/>
            <a:rect l="l" t="t" r="r" b="b"/>
            <a:pathLst>
              <a:path w="1601988" h="1202947">
                <a:moveTo>
                  <a:pt x="0" y="0"/>
                </a:moveTo>
                <a:lnTo>
                  <a:pt x="1601988" y="0"/>
                </a:lnTo>
                <a:lnTo>
                  <a:pt x="1601988" y="1202947"/>
                </a:lnTo>
                <a:lnTo>
                  <a:pt x="0" y="12029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056100" y="2973613"/>
            <a:ext cx="1561551" cy="1042335"/>
          </a:xfrm>
          <a:custGeom>
            <a:avLst/>
            <a:gdLst/>
            <a:ahLst/>
            <a:cxnLst/>
            <a:rect l="l" t="t" r="r" b="b"/>
            <a:pathLst>
              <a:path w="1561551" h="1042335">
                <a:moveTo>
                  <a:pt x="0" y="0"/>
                </a:moveTo>
                <a:lnTo>
                  <a:pt x="1561551" y="0"/>
                </a:lnTo>
                <a:lnTo>
                  <a:pt x="1561551" y="1042335"/>
                </a:lnTo>
                <a:lnTo>
                  <a:pt x="0" y="1042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>
            <a:off x="4906337" y="2562466"/>
            <a:ext cx="3734435" cy="106963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 flipV="1">
            <a:off x="4916272" y="2391480"/>
            <a:ext cx="6226448" cy="152169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V="1">
            <a:off x="4906825" y="2391480"/>
            <a:ext cx="8408967" cy="157810"/>
          </a:xfrm>
          <a:prstGeom prst="line">
            <a:avLst/>
          </a:prstGeom>
          <a:ln w="28575" cap="flat">
            <a:solidFill>
              <a:srgbClr val="FFFFFF"/>
            </a:solidFill>
            <a:prstDash val="sysDot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8705" y="1654101"/>
            <a:ext cx="2408419" cy="24084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51222" y="1654101"/>
            <a:ext cx="2436564" cy="24365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C0D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6610955" y="1037781"/>
            <a:ext cx="5066090" cy="12417196"/>
            <a:chOff x="0" y="0"/>
            <a:chExt cx="979955" cy="2401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9955" cy="2401911"/>
            </a:xfrm>
            <a:custGeom>
              <a:avLst/>
              <a:gdLst/>
              <a:ahLst/>
              <a:cxnLst/>
              <a:rect l="l" t="t" r="r" b="b"/>
              <a:pathLst>
                <a:path w="979955" h="2401911">
                  <a:moveTo>
                    <a:pt x="10697" y="0"/>
                  </a:moveTo>
                  <a:lnTo>
                    <a:pt x="969258" y="0"/>
                  </a:lnTo>
                  <a:cubicBezTo>
                    <a:pt x="975166" y="0"/>
                    <a:pt x="979955" y="4789"/>
                    <a:pt x="979955" y="10697"/>
                  </a:cubicBezTo>
                  <a:lnTo>
                    <a:pt x="979955" y="2391213"/>
                  </a:lnTo>
                  <a:cubicBezTo>
                    <a:pt x="979955" y="2397121"/>
                    <a:pt x="975166" y="2401911"/>
                    <a:pt x="969258" y="2401911"/>
                  </a:cubicBezTo>
                  <a:lnTo>
                    <a:pt x="10697" y="2401911"/>
                  </a:lnTo>
                  <a:cubicBezTo>
                    <a:pt x="4789" y="2401911"/>
                    <a:pt x="0" y="2397121"/>
                    <a:pt x="0" y="2391213"/>
                  </a:cubicBezTo>
                  <a:lnTo>
                    <a:pt x="0" y="10697"/>
                  </a:lnTo>
                  <a:cubicBezTo>
                    <a:pt x="0" y="4789"/>
                    <a:pt x="4789" y="0"/>
                    <a:pt x="10697" y="0"/>
                  </a:cubicBezTo>
                  <a:close/>
                </a:path>
              </a:pathLst>
            </a:custGeom>
            <a:solidFill>
              <a:srgbClr val="00703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79955" cy="244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6610955" y="1037781"/>
            <a:ext cx="5066090" cy="12417196"/>
            <a:chOff x="0" y="0"/>
            <a:chExt cx="979955" cy="24019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9955" cy="2401911"/>
            </a:xfrm>
            <a:custGeom>
              <a:avLst/>
              <a:gdLst/>
              <a:ahLst/>
              <a:cxnLst/>
              <a:rect l="l" t="t" r="r" b="b"/>
              <a:pathLst>
                <a:path w="979955" h="2401911">
                  <a:moveTo>
                    <a:pt x="10697" y="0"/>
                  </a:moveTo>
                  <a:lnTo>
                    <a:pt x="969258" y="0"/>
                  </a:lnTo>
                  <a:cubicBezTo>
                    <a:pt x="975166" y="0"/>
                    <a:pt x="979955" y="4789"/>
                    <a:pt x="979955" y="10697"/>
                  </a:cubicBezTo>
                  <a:lnTo>
                    <a:pt x="979955" y="2391213"/>
                  </a:lnTo>
                  <a:cubicBezTo>
                    <a:pt x="979955" y="2397121"/>
                    <a:pt x="975166" y="2401911"/>
                    <a:pt x="969258" y="2401911"/>
                  </a:cubicBezTo>
                  <a:lnTo>
                    <a:pt x="10697" y="2401911"/>
                  </a:lnTo>
                  <a:cubicBezTo>
                    <a:pt x="4789" y="2401911"/>
                    <a:pt x="0" y="2397121"/>
                    <a:pt x="0" y="2391213"/>
                  </a:cubicBezTo>
                  <a:lnTo>
                    <a:pt x="0" y="10697"/>
                  </a:lnTo>
                  <a:cubicBezTo>
                    <a:pt x="0" y="4789"/>
                    <a:pt x="4789" y="0"/>
                    <a:pt x="10697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79955" cy="244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3660451" y="6596694"/>
            <a:ext cx="9006692" cy="0"/>
          </a:xfrm>
          <a:prstGeom prst="line">
            <a:avLst/>
          </a:prstGeom>
          <a:ln w="47625" cap="flat">
            <a:solidFill>
              <a:srgbClr val="0B132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8083561" y="421746"/>
            <a:ext cx="2436564" cy="243656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>
                <a:alpha val="47843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759409" y="1286602"/>
            <a:ext cx="1084867" cy="734998"/>
          </a:xfrm>
          <a:custGeom>
            <a:avLst/>
            <a:gdLst/>
            <a:ahLst/>
            <a:cxnLst/>
            <a:rect l="l" t="t" r="r" b="b"/>
            <a:pathLst>
              <a:path w="1084867" h="734998">
                <a:moveTo>
                  <a:pt x="0" y="0"/>
                </a:moveTo>
                <a:lnTo>
                  <a:pt x="1084868" y="0"/>
                </a:lnTo>
                <a:lnTo>
                  <a:pt x="1084868" y="734998"/>
                </a:lnTo>
                <a:lnTo>
                  <a:pt x="0" y="734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80480" y="2504885"/>
            <a:ext cx="1084867" cy="734998"/>
          </a:xfrm>
          <a:custGeom>
            <a:avLst/>
            <a:gdLst/>
            <a:ahLst/>
            <a:cxnLst/>
            <a:rect l="l" t="t" r="r" b="b"/>
            <a:pathLst>
              <a:path w="1084867" h="734998">
                <a:moveTo>
                  <a:pt x="0" y="0"/>
                </a:moveTo>
                <a:lnTo>
                  <a:pt x="1084868" y="0"/>
                </a:lnTo>
                <a:lnTo>
                  <a:pt x="1084868" y="734997"/>
                </a:lnTo>
                <a:lnTo>
                  <a:pt x="0" y="73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644126" y="2504885"/>
            <a:ext cx="1084867" cy="734998"/>
          </a:xfrm>
          <a:custGeom>
            <a:avLst/>
            <a:gdLst/>
            <a:ahLst/>
            <a:cxnLst/>
            <a:rect l="l" t="t" r="r" b="b"/>
            <a:pathLst>
              <a:path w="1084867" h="734998">
                <a:moveTo>
                  <a:pt x="0" y="0"/>
                </a:moveTo>
                <a:lnTo>
                  <a:pt x="1084867" y="0"/>
                </a:lnTo>
                <a:lnTo>
                  <a:pt x="1084867" y="734997"/>
                </a:lnTo>
                <a:lnTo>
                  <a:pt x="0" y="73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8271" y="100693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6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60451" y="5331927"/>
            <a:ext cx="5671491" cy="104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2"/>
              </a:lnSpc>
            </a:pPr>
            <a:r>
              <a:rPr lang="en-US" sz="6094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BSS Coloring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85044" y="6790958"/>
            <a:ext cx="11917912" cy="314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Adds a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Color Code</a:t>
            </a: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 to each Basic Service Set</a:t>
            </a:r>
          </a:p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Helps Devices </a:t>
            </a:r>
            <a:r>
              <a:rPr lang="en-US" sz="3552" b="1">
                <a:solidFill>
                  <a:srgbClr val="0B132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distinguish</a:t>
            </a: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 between Signals</a:t>
            </a:r>
          </a:p>
          <a:p>
            <a:pPr marL="766963" lvl="1" indent="-383481" algn="just">
              <a:lnSpc>
                <a:spcPts val="6323"/>
              </a:lnSpc>
              <a:buFont typeface="Arial"/>
              <a:buChar char="•"/>
            </a:pPr>
            <a:r>
              <a:rPr lang="en-US" sz="3552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Reduces Interference </a:t>
            </a:r>
          </a:p>
          <a:p>
            <a:pPr algn="just">
              <a:lnSpc>
                <a:spcPts val="6323"/>
              </a:lnSpc>
            </a:pPr>
            <a:endParaRPr lang="en-US" sz="3552">
              <a:solidFill>
                <a:srgbClr val="0B132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768500" y="-2854127"/>
            <a:ext cx="8490018" cy="17176284"/>
            <a:chOff x="0" y="0"/>
            <a:chExt cx="1938196" cy="3921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196" cy="3921194"/>
            </a:xfrm>
            <a:custGeom>
              <a:avLst/>
              <a:gdLst/>
              <a:ahLst/>
              <a:cxnLst/>
              <a:rect l="l" t="t" r="r" b="b"/>
              <a:pathLst>
                <a:path w="1938196" h="3921194">
                  <a:moveTo>
                    <a:pt x="6383" y="0"/>
                  </a:moveTo>
                  <a:lnTo>
                    <a:pt x="1931813" y="0"/>
                  </a:lnTo>
                  <a:cubicBezTo>
                    <a:pt x="1935338" y="0"/>
                    <a:pt x="1938196" y="2858"/>
                    <a:pt x="1938196" y="6383"/>
                  </a:cubicBezTo>
                  <a:lnTo>
                    <a:pt x="1938196" y="3914811"/>
                  </a:lnTo>
                  <a:cubicBezTo>
                    <a:pt x="1938196" y="3916504"/>
                    <a:pt x="1937524" y="3918128"/>
                    <a:pt x="1936327" y="3919325"/>
                  </a:cubicBezTo>
                  <a:cubicBezTo>
                    <a:pt x="1935130" y="3920522"/>
                    <a:pt x="1933506" y="3921194"/>
                    <a:pt x="1931813" y="3921194"/>
                  </a:cubicBezTo>
                  <a:lnTo>
                    <a:pt x="6383" y="3921194"/>
                  </a:lnTo>
                  <a:cubicBezTo>
                    <a:pt x="2858" y="3921194"/>
                    <a:pt x="0" y="3918336"/>
                    <a:pt x="0" y="3914811"/>
                  </a:cubicBezTo>
                  <a:lnTo>
                    <a:pt x="0" y="6383"/>
                  </a:lnTo>
                  <a:cubicBezTo>
                    <a:pt x="0" y="2858"/>
                    <a:pt x="2858" y="0"/>
                    <a:pt x="6383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38196" cy="396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367" y="181770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7 (802.11 be)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881" y="2292163"/>
            <a:ext cx="16041628" cy="363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411" lvl="1" indent="-395206" algn="just">
              <a:lnSpc>
                <a:spcPts val="7322"/>
              </a:lnSpc>
              <a:buFont typeface="Arial"/>
              <a:buChar char="•"/>
            </a:pPr>
            <a:r>
              <a:rPr lang="en-US" sz="3661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Wi-Fi 7 was created to accommodate the needs of new technology such as 4k/8k streaming and VR/AR which requires extremely high throughput</a:t>
            </a:r>
          </a:p>
          <a:p>
            <a:pPr marL="790411" lvl="1" indent="-395206" algn="just">
              <a:lnSpc>
                <a:spcPts val="7322"/>
              </a:lnSpc>
              <a:buFont typeface="Arial"/>
              <a:buChar char="•"/>
            </a:pPr>
            <a:r>
              <a:rPr lang="en-US" sz="3661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It contains massive improvements to both the MAC and PHY layers to achieve the speed required for Wi-Fi 7</a:t>
            </a:r>
          </a:p>
        </p:txBody>
      </p:sp>
      <p:sp>
        <p:nvSpPr>
          <p:cNvPr id="7" name="Freeform 7"/>
          <p:cNvSpPr/>
          <p:nvPr/>
        </p:nvSpPr>
        <p:spPr>
          <a:xfrm>
            <a:off x="15845368" y="8578838"/>
            <a:ext cx="1756284" cy="1358925"/>
          </a:xfrm>
          <a:custGeom>
            <a:avLst/>
            <a:gdLst/>
            <a:ahLst/>
            <a:cxnLst/>
            <a:rect l="l" t="t" r="r" b="b"/>
            <a:pathLst>
              <a:path w="1756284" h="1358925">
                <a:moveTo>
                  <a:pt x="0" y="0"/>
                </a:moveTo>
                <a:lnTo>
                  <a:pt x="1756284" y="0"/>
                </a:lnTo>
                <a:lnTo>
                  <a:pt x="1756284" y="1358924"/>
                </a:lnTo>
                <a:lnTo>
                  <a:pt x="0" y="135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2473" y="1629501"/>
            <a:ext cx="16334359" cy="8187597"/>
          </a:xfrm>
          <a:custGeom>
            <a:avLst/>
            <a:gdLst/>
            <a:ahLst/>
            <a:cxnLst/>
            <a:rect l="l" t="t" r="r" b="b"/>
            <a:pathLst>
              <a:path w="16334359" h="8187597">
                <a:moveTo>
                  <a:pt x="0" y="0"/>
                </a:moveTo>
                <a:lnTo>
                  <a:pt x="16334359" y="0"/>
                </a:lnTo>
                <a:lnTo>
                  <a:pt x="16334359" y="8187598"/>
                </a:lnTo>
                <a:lnTo>
                  <a:pt x="0" y="818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5367" y="181770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7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768500" y="-2854127"/>
            <a:ext cx="8490018" cy="17176284"/>
            <a:chOff x="0" y="0"/>
            <a:chExt cx="1938196" cy="3921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196" cy="3921194"/>
            </a:xfrm>
            <a:custGeom>
              <a:avLst/>
              <a:gdLst/>
              <a:ahLst/>
              <a:cxnLst/>
              <a:rect l="l" t="t" r="r" b="b"/>
              <a:pathLst>
                <a:path w="1938196" h="3921194">
                  <a:moveTo>
                    <a:pt x="6383" y="0"/>
                  </a:moveTo>
                  <a:lnTo>
                    <a:pt x="1931813" y="0"/>
                  </a:lnTo>
                  <a:cubicBezTo>
                    <a:pt x="1935338" y="0"/>
                    <a:pt x="1938196" y="2858"/>
                    <a:pt x="1938196" y="6383"/>
                  </a:cubicBezTo>
                  <a:lnTo>
                    <a:pt x="1938196" y="3914811"/>
                  </a:lnTo>
                  <a:cubicBezTo>
                    <a:pt x="1938196" y="3916504"/>
                    <a:pt x="1937524" y="3918128"/>
                    <a:pt x="1936327" y="3919325"/>
                  </a:cubicBezTo>
                  <a:cubicBezTo>
                    <a:pt x="1935130" y="3920522"/>
                    <a:pt x="1933506" y="3921194"/>
                    <a:pt x="1931813" y="3921194"/>
                  </a:cubicBezTo>
                  <a:lnTo>
                    <a:pt x="6383" y="3921194"/>
                  </a:lnTo>
                  <a:cubicBezTo>
                    <a:pt x="2858" y="3921194"/>
                    <a:pt x="0" y="3918336"/>
                    <a:pt x="0" y="3914811"/>
                  </a:cubicBezTo>
                  <a:lnTo>
                    <a:pt x="0" y="6383"/>
                  </a:lnTo>
                  <a:cubicBezTo>
                    <a:pt x="0" y="2858"/>
                    <a:pt x="2858" y="0"/>
                    <a:pt x="6383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38196" cy="396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367" y="181770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7 MAC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0665" y="2162806"/>
            <a:ext cx="672703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Multi-Link Operation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0665" y="5680666"/>
            <a:ext cx="1407716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Multiple-input and Multiple-Output(MIMO)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9504" y="3411662"/>
            <a:ext cx="15264827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feature giving ability to transmit data across different frequency bands simultaneously.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84.5% improvement compared to a single-link operation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9504" y="7084801"/>
            <a:ext cx="1569979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Utilizes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16 antennas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allowing 16 independent data streams simultaneously, utilizing multiple antennas for both transmitting and receiving data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845368" y="8843732"/>
            <a:ext cx="1413932" cy="1094030"/>
          </a:xfrm>
          <a:custGeom>
            <a:avLst/>
            <a:gdLst/>
            <a:ahLst/>
            <a:cxnLst/>
            <a:rect l="l" t="t" r="r" b="b"/>
            <a:pathLst>
              <a:path w="1413932" h="1094030">
                <a:moveTo>
                  <a:pt x="0" y="0"/>
                </a:moveTo>
                <a:lnTo>
                  <a:pt x="1413932" y="0"/>
                </a:lnTo>
                <a:lnTo>
                  <a:pt x="1413932" y="1094030"/>
                </a:lnTo>
                <a:lnTo>
                  <a:pt x="0" y="1094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768500" y="-2854127"/>
            <a:ext cx="8490018" cy="17176284"/>
            <a:chOff x="0" y="0"/>
            <a:chExt cx="1938196" cy="3921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196" cy="3921194"/>
            </a:xfrm>
            <a:custGeom>
              <a:avLst/>
              <a:gdLst/>
              <a:ahLst/>
              <a:cxnLst/>
              <a:rect l="l" t="t" r="r" b="b"/>
              <a:pathLst>
                <a:path w="1938196" h="3921194">
                  <a:moveTo>
                    <a:pt x="6383" y="0"/>
                  </a:moveTo>
                  <a:lnTo>
                    <a:pt x="1931813" y="0"/>
                  </a:lnTo>
                  <a:cubicBezTo>
                    <a:pt x="1935338" y="0"/>
                    <a:pt x="1938196" y="2858"/>
                    <a:pt x="1938196" y="6383"/>
                  </a:cubicBezTo>
                  <a:lnTo>
                    <a:pt x="1938196" y="3914811"/>
                  </a:lnTo>
                  <a:cubicBezTo>
                    <a:pt x="1938196" y="3916504"/>
                    <a:pt x="1937524" y="3918128"/>
                    <a:pt x="1936327" y="3919325"/>
                  </a:cubicBezTo>
                  <a:cubicBezTo>
                    <a:pt x="1935130" y="3920522"/>
                    <a:pt x="1933506" y="3921194"/>
                    <a:pt x="1931813" y="3921194"/>
                  </a:cubicBezTo>
                  <a:lnTo>
                    <a:pt x="6383" y="3921194"/>
                  </a:lnTo>
                  <a:cubicBezTo>
                    <a:pt x="2858" y="3921194"/>
                    <a:pt x="0" y="3918336"/>
                    <a:pt x="0" y="3914811"/>
                  </a:cubicBezTo>
                  <a:lnTo>
                    <a:pt x="0" y="6383"/>
                  </a:lnTo>
                  <a:cubicBezTo>
                    <a:pt x="0" y="2858"/>
                    <a:pt x="2858" y="0"/>
                    <a:pt x="6383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38196" cy="396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367" y="181770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7 MAC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81719"/>
            <a:ext cx="717196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Multi-AP coordination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051985"/>
            <a:ext cx="193405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HARQ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4102" y="3554614"/>
            <a:ext cx="1569979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 sharing of data and control information among access point devices using physical or wireless links, increasing overall efficiency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9504" y="7624880"/>
            <a:ext cx="1569979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method to increase transmission reliability by strong incorrect decoded information and adding it to the retransmitted data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845368" y="9049087"/>
            <a:ext cx="1148531" cy="888675"/>
          </a:xfrm>
          <a:custGeom>
            <a:avLst/>
            <a:gdLst/>
            <a:ahLst/>
            <a:cxnLst/>
            <a:rect l="l" t="t" r="r" b="b"/>
            <a:pathLst>
              <a:path w="1148531" h="888675">
                <a:moveTo>
                  <a:pt x="0" y="0"/>
                </a:moveTo>
                <a:lnTo>
                  <a:pt x="1148530" y="0"/>
                </a:lnTo>
                <a:lnTo>
                  <a:pt x="1148530" y="888675"/>
                </a:lnTo>
                <a:lnTo>
                  <a:pt x="0" y="88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768500" y="-2854127"/>
            <a:ext cx="8490018" cy="17176284"/>
            <a:chOff x="0" y="0"/>
            <a:chExt cx="1938196" cy="3921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196" cy="3921194"/>
            </a:xfrm>
            <a:custGeom>
              <a:avLst/>
              <a:gdLst/>
              <a:ahLst/>
              <a:cxnLst/>
              <a:rect l="l" t="t" r="r" b="b"/>
              <a:pathLst>
                <a:path w="1938196" h="3921194">
                  <a:moveTo>
                    <a:pt x="6383" y="0"/>
                  </a:moveTo>
                  <a:lnTo>
                    <a:pt x="1931813" y="0"/>
                  </a:lnTo>
                  <a:cubicBezTo>
                    <a:pt x="1935338" y="0"/>
                    <a:pt x="1938196" y="2858"/>
                    <a:pt x="1938196" y="6383"/>
                  </a:cubicBezTo>
                  <a:lnTo>
                    <a:pt x="1938196" y="3914811"/>
                  </a:lnTo>
                  <a:cubicBezTo>
                    <a:pt x="1938196" y="3916504"/>
                    <a:pt x="1937524" y="3918128"/>
                    <a:pt x="1936327" y="3919325"/>
                  </a:cubicBezTo>
                  <a:cubicBezTo>
                    <a:pt x="1935130" y="3920522"/>
                    <a:pt x="1933506" y="3921194"/>
                    <a:pt x="1931813" y="3921194"/>
                  </a:cubicBezTo>
                  <a:lnTo>
                    <a:pt x="6383" y="3921194"/>
                  </a:lnTo>
                  <a:cubicBezTo>
                    <a:pt x="2858" y="3921194"/>
                    <a:pt x="0" y="3918336"/>
                    <a:pt x="0" y="3914811"/>
                  </a:cubicBezTo>
                  <a:lnTo>
                    <a:pt x="0" y="6383"/>
                  </a:lnTo>
                  <a:cubicBezTo>
                    <a:pt x="0" y="2858"/>
                    <a:pt x="2858" y="0"/>
                    <a:pt x="6383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38196" cy="396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367" y="181770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Wi-Fi 7 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947" y="1981719"/>
            <a:ext cx="702147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Enhanced Channeling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4102" y="6008488"/>
            <a:ext cx="356199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4096-QAM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4102" y="3554614"/>
            <a:ext cx="1569979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utilizes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320 MHz channel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can be continuous in the same band or noncontinuous on different bands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9504" y="7133548"/>
            <a:ext cx="1569979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number of distinct signal combinations that can be used to represent data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of at most 20% in data rate 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278647" y="8914088"/>
            <a:ext cx="1323004" cy="1023675"/>
          </a:xfrm>
          <a:custGeom>
            <a:avLst/>
            <a:gdLst/>
            <a:ahLst/>
            <a:cxnLst/>
            <a:rect l="l" t="t" r="r" b="b"/>
            <a:pathLst>
              <a:path w="1323004" h="1023675">
                <a:moveTo>
                  <a:pt x="0" y="0"/>
                </a:moveTo>
                <a:lnTo>
                  <a:pt x="1323005" y="0"/>
                </a:lnTo>
                <a:lnTo>
                  <a:pt x="1323005" y="1023674"/>
                </a:lnTo>
                <a:lnTo>
                  <a:pt x="0" y="102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768500" y="-2854127"/>
            <a:ext cx="8490018" cy="17176284"/>
            <a:chOff x="0" y="0"/>
            <a:chExt cx="1938196" cy="3921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196" cy="3921194"/>
            </a:xfrm>
            <a:custGeom>
              <a:avLst/>
              <a:gdLst/>
              <a:ahLst/>
              <a:cxnLst/>
              <a:rect l="l" t="t" r="r" b="b"/>
              <a:pathLst>
                <a:path w="1938196" h="3921194">
                  <a:moveTo>
                    <a:pt x="6383" y="0"/>
                  </a:moveTo>
                  <a:lnTo>
                    <a:pt x="1931813" y="0"/>
                  </a:lnTo>
                  <a:cubicBezTo>
                    <a:pt x="1935338" y="0"/>
                    <a:pt x="1938196" y="2858"/>
                    <a:pt x="1938196" y="6383"/>
                  </a:cubicBezTo>
                  <a:lnTo>
                    <a:pt x="1938196" y="3914811"/>
                  </a:lnTo>
                  <a:cubicBezTo>
                    <a:pt x="1938196" y="3916504"/>
                    <a:pt x="1937524" y="3918128"/>
                    <a:pt x="1936327" y="3919325"/>
                  </a:cubicBezTo>
                  <a:cubicBezTo>
                    <a:pt x="1935130" y="3920522"/>
                    <a:pt x="1933506" y="3921194"/>
                    <a:pt x="1931813" y="3921194"/>
                  </a:cubicBezTo>
                  <a:lnTo>
                    <a:pt x="6383" y="3921194"/>
                  </a:lnTo>
                  <a:cubicBezTo>
                    <a:pt x="2858" y="3921194"/>
                    <a:pt x="0" y="3918336"/>
                    <a:pt x="0" y="3914811"/>
                  </a:cubicBezTo>
                  <a:lnTo>
                    <a:pt x="0" y="6383"/>
                  </a:lnTo>
                  <a:cubicBezTo>
                    <a:pt x="0" y="2858"/>
                    <a:pt x="2858" y="0"/>
                    <a:pt x="6383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38196" cy="396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367" y="181770"/>
            <a:ext cx="10214673" cy="11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Interference Mitigation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6882" y="1931029"/>
            <a:ext cx="6683706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Physical Layer (PHY)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0665" y="5448890"/>
            <a:ext cx="1407716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Medium Access Control Layer (MAC)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7773" y="2959373"/>
            <a:ext cx="15264827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1.Orthogonal Frequency Division Multiplexing (OFDM)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2.Channel Allocation and Power Control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3.Error Correction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4.Beamforming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7773" y="6388734"/>
            <a:ext cx="15699796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1.Carrier Sense Multiple Access with Collision Avoidance (CSMA/CA)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2.Request to Send / Clear to Send (RTS/CTS)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3.BSS Coloring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4.Spatial Reuse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5.Time-Sensitive Networking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5845368" y="8843732"/>
            <a:ext cx="1413932" cy="1094030"/>
          </a:xfrm>
          <a:custGeom>
            <a:avLst/>
            <a:gdLst/>
            <a:ahLst/>
            <a:cxnLst/>
            <a:rect l="l" t="t" r="r" b="b"/>
            <a:pathLst>
              <a:path w="1413932" h="1094030">
                <a:moveTo>
                  <a:pt x="0" y="0"/>
                </a:moveTo>
                <a:lnTo>
                  <a:pt x="1413932" y="0"/>
                </a:lnTo>
                <a:lnTo>
                  <a:pt x="1413932" y="1094030"/>
                </a:lnTo>
                <a:lnTo>
                  <a:pt x="0" y="1094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753814" y="4459560"/>
            <a:ext cx="10308563" cy="10308563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r="-4999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3685756" flipH="1" flipV="1">
            <a:off x="16274635" y="-2391423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4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4" y="0"/>
                </a:lnTo>
                <a:lnTo>
                  <a:pt x="5375134" y="84729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61881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2126549" y="5719717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0" y="0"/>
                </a:lnTo>
                <a:lnTo>
                  <a:pt x="4632680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43679"/>
            </a:stretch>
          </a:blipFill>
        </p:spPr>
      </p:sp>
      <p:grpSp>
        <p:nvGrpSpPr>
          <p:cNvPr id="6" name="Group 6"/>
          <p:cNvGrpSpPr/>
          <p:nvPr/>
        </p:nvGrpSpPr>
        <p:grpSpPr>
          <a:xfrm rot="-5845962">
            <a:off x="8764452" y="6545775"/>
            <a:ext cx="3720768" cy="12187601"/>
            <a:chOff x="0" y="0"/>
            <a:chExt cx="979955" cy="32099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9955" cy="3209903"/>
            </a:xfrm>
            <a:custGeom>
              <a:avLst/>
              <a:gdLst/>
              <a:ahLst/>
              <a:cxnLst/>
              <a:rect l="l" t="t" r="r" b="b"/>
              <a:pathLst>
                <a:path w="979955" h="3209903">
                  <a:moveTo>
                    <a:pt x="0" y="0"/>
                  </a:moveTo>
                  <a:lnTo>
                    <a:pt x="979955" y="0"/>
                  </a:lnTo>
                  <a:lnTo>
                    <a:pt x="979955" y="3209903"/>
                  </a:lnTo>
                  <a:lnTo>
                    <a:pt x="0" y="3209903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79955" cy="3257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630822"/>
            <a:ext cx="12647124" cy="1409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1983" y="2133347"/>
            <a:ext cx="16687317" cy="648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906" lvl="1" indent="-350953" algn="just">
              <a:lnSpc>
                <a:spcPts val="6502"/>
              </a:lnSpc>
              <a:buFont typeface="Arial"/>
              <a:buChar char="•"/>
            </a:pPr>
            <a:r>
              <a:rPr lang="en-US" sz="3251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ChatGPT provides information similar to the ones discussed in the paper however it lacks an in-depth explanation for it</a:t>
            </a:r>
          </a:p>
          <a:p>
            <a:pPr marL="701906" lvl="1" indent="-350953" algn="just">
              <a:lnSpc>
                <a:spcPts val="6502"/>
              </a:lnSpc>
              <a:buFont typeface="Arial"/>
              <a:buChar char="•"/>
            </a:pPr>
            <a:r>
              <a:rPr lang="en-US" sz="3251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The discussion with ChatGPT in the context of Wi-Fi 7 and Wi-Fi 6 did provide adequate and additional information,</a:t>
            </a:r>
            <a:r>
              <a:rPr lang="en-US" sz="3251" b="1">
                <a:solidFill>
                  <a:srgbClr val="1C3F6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however</a:t>
            </a:r>
            <a:r>
              <a:rPr lang="en-US" sz="3251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, it also did not cover some of the most important features of Wi-Fi 7 such as MIMO and HARQ </a:t>
            </a:r>
          </a:p>
          <a:p>
            <a:pPr marL="701906" lvl="1" indent="-350953" algn="just">
              <a:lnSpc>
                <a:spcPts val="6502"/>
              </a:lnSpc>
              <a:buFont typeface="Arial"/>
              <a:buChar char="•"/>
            </a:pPr>
            <a:r>
              <a:rPr lang="en-US" sz="3251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ChatGPT provided a Comparison Table of Wi-Fi Technologies. Yet it only listed the M</a:t>
            </a:r>
            <a:r>
              <a:rPr lang="en-US" sz="3251" b="1">
                <a:solidFill>
                  <a:srgbClr val="1C3F6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ax Speed</a:t>
            </a:r>
            <a:r>
              <a:rPr lang="en-US" sz="3251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 for normal conditions, without noting that ideal conditions could result h</a:t>
            </a:r>
            <a:r>
              <a:rPr lang="en-US" sz="3251" b="1">
                <a:solidFill>
                  <a:srgbClr val="1C3F6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igher performance</a:t>
            </a:r>
            <a:r>
              <a:rPr lang="en-US" sz="3251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6990377">
            <a:off x="5454903" y="7016350"/>
            <a:ext cx="3580560" cy="7053965"/>
            <a:chOff x="0" y="0"/>
            <a:chExt cx="943028" cy="18578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3028" cy="1857834"/>
            </a:xfrm>
            <a:custGeom>
              <a:avLst/>
              <a:gdLst/>
              <a:ahLst/>
              <a:cxnLst/>
              <a:rect l="l" t="t" r="r" b="b"/>
              <a:pathLst>
                <a:path w="943028" h="1857834">
                  <a:moveTo>
                    <a:pt x="0" y="0"/>
                  </a:moveTo>
                  <a:lnTo>
                    <a:pt x="943028" y="0"/>
                  </a:lnTo>
                  <a:lnTo>
                    <a:pt x="943028" y="1857834"/>
                  </a:lnTo>
                  <a:lnTo>
                    <a:pt x="0" y="1857834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43028" cy="1905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3566576">
            <a:off x="8586490" y="233380"/>
            <a:ext cx="13267636" cy="10484457"/>
            <a:chOff x="0" y="0"/>
            <a:chExt cx="3494357" cy="2761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94357" cy="2761338"/>
            </a:xfrm>
            <a:custGeom>
              <a:avLst/>
              <a:gdLst/>
              <a:ahLst/>
              <a:cxnLst/>
              <a:rect l="l" t="t" r="r" b="b"/>
              <a:pathLst>
                <a:path w="3494357" h="2761338">
                  <a:moveTo>
                    <a:pt x="0" y="0"/>
                  </a:moveTo>
                  <a:lnTo>
                    <a:pt x="3494357" y="0"/>
                  </a:lnTo>
                  <a:lnTo>
                    <a:pt x="3494357" y="2761338"/>
                  </a:lnTo>
                  <a:lnTo>
                    <a:pt x="0" y="276133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494357" cy="2808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4616238" y="-2126722"/>
            <a:ext cx="4379678" cy="6903771"/>
          </a:xfrm>
          <a:custGeom>
            <a:avLst/>
            <a:gdLst/>
            <a:ahLst/>
            <a:cxnLst/>
            <a:rect l="l" t="t" r="r" b="b"/>
            <a:pathLst>
              <a:path w="4379678" h="6903771">
                <a:moveTo>
                  <a:pt x="4379679" y="6903771"/>
                </a:moveTo>
                <a:lnTo>
                  <a:pt x="0" y="6903771"/>
                </a:lnTo>
                <a:lnTo>
                  <a:pt x="0" y="0"/>
                </a:lnTo>
                <a:lnTo>
                  <a:pt x="4379679" y="0"/>
                </a:lnTo>
                <a:lnTo>
                  <a:pt x="4379679" y="6903771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22606" y="2832147"/>
            <a:ext cx="8184078" cy="4525486"/>
          </a:xfrm>
          <a:custGeom>
            <a:avLst/>
            <a:gdLst/>
            <a:ahLst/>
            <a:cxnLst/>
            <a:rect l="l" t="t" r="r" b="b"/>
            <a:pathLst>
              <a:path w="8184078" h="4525486">
                <a:moveTo>
                  <a:pt x="0" y="0"/>
                </a:moveTo>
                <a:lnTo>
                  <a:pt x="8184078" y="0"/>
                </a:lnTo>
                <a:lnTo>
                  <a:pt x="8184078" y="4525487"/>
                </a:lnTo>
                <a:lnTo>
                  <a:pt x="0" y="4525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703473" y="2839769"/>
            <a:ext cx="7986193" cy="4527390"/>
          </a:xfrm>
          <a:custGeom>
            <a:avLst/>
            <a:gdLst/>
            <a:ahLst/>
            <a:cxnLst/>
            <a:rect l="l" t="t" r="r" b="b"/>
            <a:pathLst>
              <a:path w="7986193" h="4527390">
                <a:moveTo>
                  <a:pt x="0" y="0"/>
                </a:moveTo>
                <a:lnTo>
                  <a:pt x="7986194" y="0"/>
                </a:lnTo>
                <a:lnTo>
                  <a:pt x="7986194" y="4527390"/>
                </a:lnTo>
                <a:lnTo>
                  <a:pt x="0" y="4527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76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496614"/>
            <a:ext cx="8674773" cy="108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6246"/>
            <a:ext cx="6535341" cy="108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8047" y="2332756"/>
            <a:ext cx="16891905" cy="692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801" lvl="1" indent="-258401" algn="just">
              <a:lnSpc>
                <a:spcPts val="4260"/>
              </a:lnSpc>
              <a:buFont typeface="Arial"/>
              <a:buChar char="•"/>
            </a:pPr>
            <a:r>
              <a:rPr lang="en-US" sz="2393" b="1">
                <a:solidFill>
                  <a:srgbClr val="F3F6FA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Wi-Fi 6 introduced key features such as OFDMA, MU-MIMO, and BSS</a:t>
            </a:r>
          </a:p>
          <a:p>
            <a:pPr marL="516801" lvl="1" indent="-258401" algn="just">
              <a:lnSpc>
                <a:spcPts val="4260"/>
              </a:lnSpc>
              <a:buFont typeface="Arial"/>
              <a:buChar char="•"/>
            </a:pPr>
            <a:r>
              <a:rPr lang="en-US" sz="2393" b="1">
                <a:solidFill>
                  <a:srgbClr val="F3F6FA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Wi-Fi 7 built upon these innovations by adding greater channel bandwidth, advanced modulation techniques, and technologies like MLO and Multi-AP Coordination.</a:t>
            </a:r>
          </a:p>
          <a:p>
            <a:pPr marL="516801" lvl="1" indent="-258401" algn="just">
              <a:lnSpc>
                <a:spcPts val="4260"/>
              </a:lnSpc>
              <a:buFont typeface="Arial"/>
              <a:buChar char="•"/>
            </a:pPr>
            <a:r>
              <a:rPr lang="en-US" sz="2393" b="1">
                <a:solidFill>
                  <a:srgbClr val="F3F6FA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At the PHY layer, Wi-Fi 6 introduced 1024-QAM modulation, allowing a 25% increase in data rates compared to Wi-Fi 5's 256-QAM. Wi-Fi 7 takes this further with 4096-QAM, improving data rates by an additional 20%. Wi-Fi 6 expanded channel bandwidth to 160 MHz, while Wi-Fi 7 doubles this to 320 MHz, enabling significantly faster data transmission. </a:t>
            </a:r>
          </a:p>
          <a:p>
            <a:pPr marL="516801" lvl="1" indent="-258401" algn="just">
              <a:lnSpc>
                <a:spcPts val="4260"/>
              </a:lnSpc>
              <a:buFont typeface="Arial"/>
              <a:buChar char="•"/>
            </a:pPr>
            <a:r>
              <a:rPr lang="en-US" sz="2393" b="1">
                <a:solidFill>
                  <a:srgbClr val="F3F6FA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At the MAC layer, Wi-Fi 6 expanded MU-MIMO capabilities. Wi-Fi 7 doubles this capacity to 16 users and introduces enhanced features like Hybrid Automatic Repeat Request (HARQ). </a:t>
            </a:r>
          </a:p>
          <a:p>
            <a:pPr marL="516801" lvl="1" indent="-258401" algn="just">
              <a:lnSpc>
                <a:spcPts val="4260"/>
              </a:lnSpc>
              <a:buFont typeface="Arial"/>
              <a:buChar char="•"/>
            </a:pPr>
            <a:r>
              <a:rPr lang="en-US" sz="2393" b="1">
                <a:solidFill>
                  <a:srgbClr val="F3F6FA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BSS Coloring, introduced in Wi-Fi 6, remains in Wi-Fi 7. Multi-AP Coordination in Wi-Fi 7 further optimizes channel use and improves overall network performance in areas with multiple access points.</a:t>
            </a:r>
          </a:p>
          <a:p>
            <a:pPr marL="516801" lvl="1" indent="-258401" algn="just">
              <a:lnSpc>
                <a:spcPts val="4260"/>
              </a:lnSpc>
              <a:buFont typeface="Arial"/>
              <a:buChar char="•"/>
            </a:pPr>
            <a:r>
              <a:rPr lang="en-US" sz="2393" b="1">
                <a:solidFill>
                  <a:srgbClr val="F3F6FA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Interference mitigation strategies include OFDM, Channel Allocation and Power Control, FEC, and Beamforming in PHY and CSMA/CA, RTS/CTS, BSS Coloring, Spatial Reuse, and TSN in MAC.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8996924" y="-1810932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7"/>
                </a:moveTo>
                <a:lnTo>
                  <a:pt x="11205779" y="10911627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803481">
            <a:off x="-1558769" y="-2721739"/>
            <a:ext cx="7821074" cy="19539727"/>
            <a:chOff x="0" y="0"/>
            <a:chExt cx="2059871" cy="5146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59872" cy="5146266"/>
            </a:xfrm>
            <a:custGeom>
              <a:avLst/>
              <a:gdLst/>
              <a:ahLst/>
              <a:cxnLst/>
              <a:rect l="l" t="t" r="r" b="b"/>
              <a:pathLst>
                <a:path w="2059872" h="5146266">
                  <a:moveTo>
                    <a:pt x="0" y="0"/>
                  </a:moveTo>
                  <a:lnTo>
                    <a:pt x="2059872" y="0"/>
                  </a:lnTo>
                  <a:lnTo>
                    <a:pt x="2059872" y="5146266"/>
                  </a:lnTo>
                  <a:lnTo>
                    <a:pt x="0" y="5146266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59871" cy="5193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425876">
            <a:off x="7248318" y="8786475"/>
            <a:ext cx="12022786" cy="2391367"/>
            <a:chOff x="0" y="0"/>
            <a:chExt cx="3166495" cy="6298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6495" cy="629825"/>
            </a:xfrm>
            <a:custGeom>
              <a:avLst/>
              <a:gdLst/>
              <a:ahLst/>
              <a:cxnLst/>
              <a:rect l="l" t="t" r="r" b="b"/>
              <a:pathLst>
                <a:path w="3166495" h="629825">
                  <a:moveTo>
                    <a:pt x="0" y="0"/>
                  </a:moveTo>
                  <a:lnTo>
                    <a:pt x="3166495" y="0"/>
                  </a:lnTo>
                  <a:lnTo>
                    <a:pt x="3166495" y="629825"/>
                  </a:lnTo>
                  <a:lnTo>
                    <a:pt x="0" y="629825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6495" cy="67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289240" flipH="1">
            <a:off x="-2960106" y="-896765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7"/>
                </a:lnTo>
                <a:lnTo>
                  <a:pt x="6656198" y="5258397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728844" y="4250254"/>
            <a:ext cx="8530456" cy="180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6"/>
              </a:lnSpc>
            </a:pPr>
            <a:r>
              <a:rPr lang="en-US" sz="10504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02874" y="5935970"/>
            <a:ext cx="7156426" cy="10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3"/>
              </a:lnSpc>
            </a:pPr>
            <a:r>
              <a:rPr lang="en-US" sz="6002">
                <a:solidFill>
                  <a:srgbClr val="1C3F60"/>
                </a:solidFill>
                <a:latin typeface="Kollektif"/>
                <a:ea typeface="Kollektif"/>
                <a:cs typeface="Kollektif"/>
                <a:sym typeface="Kollektif"/>
              </a:rPr>
              <a:t>For Your Attention</a:t>
            </a:r>
          </a:p>
        </p:txBody>
      </p:sp>
      <p:sp>
        <p:nvSpPr>
          <p:cNvPr id="12" name="AutoShape 12"/>
          <p:cNvSpPr/>
          <p:nvPr/>
        </p:nvSpPr>
        <p:spPr>
          <a:xfrm rot="-2168403">
            <a:off x="2758997" y="9336932"/>
            <a:ext cx="5768425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289240" flipH="1">
            <a:off x="15482579" y="592536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7"/>
                </a:lnTo>
                <a:lnTo>
                  <a:pt x="6656198" y="5258397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26791"/>
            <a:ext cx="8530456" cy="180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6"/>
              </a:lnSpc>
            </a:pPr>
            <a:r>
              <a:rPr lang="en-US" sz="10504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3369" y="2130268"/>
            <a:ext cx="17781263" cy="778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Μ. (. M. &amp;. M. B. Μπαλκώνης, "Wi-Fi Evolution: Beyond Wi-Fi 6," ProQuest Dissertations &amp; Theses, Piraeus, 2021.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C. F. X. H. X. W. X. Y. L. H. R. L. Y. G. Y. Deng, "IEEE 802.11be Wi-Fi 7: New Challenges and Opportunities," IEEE Communications surveys and tutorials, 2020-01, vol. Vol.22 (4), pp. p.2136-2166, 2020.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A. Jeknić and E. Kočan, "Multi-Link Operation for Performance Improvement in Wi-Fi 7 Networks," in 2024 28th International Conference on Information Technology (IT), 2024.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M. Alabi, "The Evolution of Wi-Fi Standards: From Wi-Fi 6 to Wi- Fi 7," 2023.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K. Abdullah, "Interference mitigation techniques for wireless OFDM," School of Engineering, RMIT University. Thesis, 30 October 2024.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H. Arra ̃no and C. Azurdia-Meza, "OFDM: Today and in the Future of Next Generation Wireless Communications," 35th IEEE Convencion de Estudiantes de Centroamerica (CONESCAPAN 2016), September 2016.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A. Rahman, W. Hoh, S. Zakaria and N. Bakar, "IoT Wireless Protocol with 802.11AH: A Study of Interference Mitigation Techniques," Proceedings of the 2nd International Conference on Emerging Technologies and Intelligent Systems, 9 February 2023.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N. Su and Q. Zhu, "Power Control and Channel Allocation Algorithm for Energy Harvesting D2D Communications," Algorithms, vol. 12, no. 5, 2019.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E. Tokhirov, R. Aliev, I. Tanaino and T. Dzholdosheva, "Analysis of the differences between Wi-Fi 6 and Wi-Fi 5," E3S Web of Conferences, vol. 402, no. No issue number, pp. 3020-, 2023.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E. Khorov, I. Levitsky and I. F. Akyildiz, "Current Status and Directions of IEEE 802.11be, the Future Wi-Fi 7," IEEE Communications Surveys &amp; Tutorials, vol. Volume: 22, no. 4, pp. 2136 - 2166, 2020.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t. Oyedare, V. Shah, D. Jakubisin and J. Reed, "Interference Suppression Using Deep Learning: Current Approaches and Open Challenges," IEEE Access, 21 June 2022. 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J. K. N. a. P. N. T. Pulkkinen, "Understanding WiFi Cross-Technology Interference Detection in the Real World," 2020 IEEE 40th International Conference on Distributed Computing Systems (ICDCS), 23 February 2021. </a:t>
            </a:r>
          </a:p>
          <a:p>
            <a:pPr algn="l">
              <a:lnSpc>
                <a:spcPts val="2925"/>
              </a:lnSpc>
            </a:pPr>
            <a:endParaRPr lang="en-US" sz="1899">
              <a:solidFill>
                <a:srgbClr val="0B13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4252e1-a284-42f1-8417-be526f46910e">
      <Terms xmlns="http://schemas.microsoft.com/office/infopath/2007/PartnerControls"/>
    </lcf76f155ced4ddcb4097134ff3c332f>
    <TaxCatchAll xmlns="d0b5b3dc-0d07-4eb4-9e08-c2f386e9b29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3218AAC4E429459E775E9109C55646" ma:contentTypeVersion="18" ma:contentTypeDescription="Create a new document." ma:contentTypeScope="" ma:versionID="bea61eed83e0ed763934b398db3d90de">
  <xsd:schema xmlns:xsd="http://www.w3.org/2001/XMLSchema" xmlns:xs="http://www.w3.org/2001/XMLSchema" xmlns:p="http://schemas.microsoft.com/office/2006/metadata/properties" xmlns:ns2="be4252e1-a284-42f1-8417-be526f46910e" xmlns:ns3="d0b5b3dc-0d07-4eb4-9e08-c2f386e9b290" targetNamespace="http://schemas.microsoft.com/office/2006/metadata/properties" ma:root="true" ma:fieldsID="883bf3949c065fe3b9f548aba6ba2314" ns2:_="" ns3:_="">
    <xsd:import namespace="be4252e1-a284-42f1-8417-be526f46910e"/>
    <xsd:import namespace="d0b5b3dc-0d07-4eb4-9e08-c2f386e9b2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252e1-a284-42f1-8417-be526f4691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17685f-1dcd-4610-9ff9-a99fab4123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5b3dc-0d07-4eb4-9e08-c2f386e9b2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42b6c41-7373-4db8-be70-2ab8cc594e02}" ma:internalName="TaxCatchAll" ma:showField="CatchAllData" ma:web="d0b5b3dc-0d07-4eb4-9e08-c2f386e9b2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98F140-9DF2-4602-A88A-34F930731B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8ED0CA-CBC7-4D67-9DC0-BE850FE7BC21}">
  <ds:schemaRefs>
    <ds:schemaRef ds:uri="be4252e1-a284-42f1-8417-be526f46910e"/>
    <ds:schemaRef ds:uri="d0b5b3dc-0d07-4eb4-9e08-c2f386e9b29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1E39CA9-E957-405C-8D75-90EE1E585517}">
  <ds:schemaRefs>
    <ds:schemaRef ds:uri="be4252e1-a284-42f1-8417-be526f46910e"/>
    <ds:schemaRef ds:uri="d0b5b3dc-0d07-4eb4-9e08-c2f386e9b2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NSS_S11-G07</dc:title>
  <cp:revision>1</cp:revision>
  <dcterms:created xsi:type="dcterms:W3CDTF">2006-08-16T00:00:00Z</dcterms:created>
  <dcterms:modified xsi:type="dcterms:W3CDTF">2024-11-15T05:46:31Z</dcterms:modified>
  <dc:identifier>DAGWbIWT4-g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0x0101003B3218AAC4E429459E775E9109C55646</vt:lpwstr>
  </property>
  <property fmtid="{D5CDD505-2E9C-101B-9397-08002B2CF9AE}" pid="3" name="MediaServiceImageTags">
    <vt:lpwstr/>
  </property>
</Properties>
</file>