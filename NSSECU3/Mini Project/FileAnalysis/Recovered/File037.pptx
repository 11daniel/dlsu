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Century Gothic Paneuropean Bold" charset="1" panose="020B0702020202020204"/>
      <p:regular r:id="rId33"/>
    </p:embeddedFont>
    <p:embeddedFont>
      <p:font typeface="Century Gothic Paneuropean" charset="1" panose="020B0502020202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font" Target="fonts/font34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33.fntdata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6" Type="http://schemas.openxmlformats.org/officeDocument/2006/relationships/slide" Target="slides/slide1.xml"/><Relationship Id="rId37" Type="http://schemas.openxmlformats.org/officeDocument/2006/relationships/customXml" Target="../customXml/item3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" Type="http://schemas.openxmlformats.org/officeDocument/2006/relationships/tableStyles" Target="tableStyles.xml"/><Relationship Id="rId36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35" Type="http://schemas.openxmlformats.org/officeDocument/2006/relationships/customXml" Target="../customXml/item1.xml"/><Relationship Id="rId8" Type="http://schemas.openxmlformats.org/officeDocument/2006/relationships/slide" Target="slides/slide3.xml"/><Relationship Id="rId3" Type="http://schemas.openxmlformats.org/officeDocument/2006/relationships/viewProps" Target="viewProps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4754" y="1826044"/>
            <a:ext cx="13018493" cy="572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4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THE DEVELOPMENT OF ETHE</a:t>
            </a:r>
            <a:r>
              <a:rPr lang="en-US" b="true" sz="64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RNET STANDARDS: AN ANALYSIS OF IEEE 802.3 UPDATES AND INNOVATIONS</a:t>
            </a:r>
          </a:p>
          <a:p>
            <a:pPr algn="ctr">
              <a:lnSpc>
                <a:spcPts val="90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021523" y="6571528"/>
            <a:ext cx="8522150" cy="1588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2"/>
              </a:lnSpc>
            </a:pPr>
            <a:r>
              <a:rPr lang="en-US" sz="45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By Eun Ji Ha and Jasmine Louise Uy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358529" y="256443"/>
            <a:ext cx="11570941" cy="139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ABSTRACT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89496" y="1900340"/>
            <a:ext cx="14509008" cy="596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Main Idea: </a:t>
            </a:r>
            <a:r>
              <a:rPr lang="en-US" sz="30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IEEE 802.3 Ethernet standards have driven the evolution of modern networking, supporting a range of environments from LANs to WANs.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Purpose: </a:t>
            </a:r>
            <a:r>
              <a:rPr lang="en-US" sz="30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paper analyzes the major IEEE 802.3 revisions, including technical changes, rationale, and network performance impacts.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Key Innovations:</a:t>
            </a:r>
            <a:r>
              <a:rPr lang="en-US" sz="30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Introduces full-duplex and switched Ethernet, enhancing throughput and efficiency by overcoming traditional Ethernet limitations.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Outcome: </a:t>
            </a:r>
            <a:r>
              <a:rPr lang="en-US" sz="30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Illustrates how IEEE 802.3’s iterative improvements established Ethernet as a versatile, durable standard for contemporary network needs.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09935" y="8484245"/>
            <a:ext cx="14509008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Keywords -  Ethernet, IEEE 802.3, Local Area Network (LAN), Wide Area Network (WAN), CSMA/CD, Thick Ethernet, Thin Ethernet, Twisted Pair Ethernet, Fiber Optic Ethernet, Fast Ethernet, Gigabit Ethernet, 10-Gigabit Ethernet, Full-Duplex, Switched Ethernet, Data Transmission, Network Scalability, Network Reliability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51322" y="254948"/>
            <a:ext cx="7585356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80011" y="2056130"/>
            <a:ext cx="14500333" cy="720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6" indent="-399413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Ethernet’s Origin: </a:t>
            </a:r>
            <a:r>
              <a:rPr lang="en-US" sz="36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Ethernet, developed in the 1970s, became the dominant standard for computer networking, continuously evolving to address technological advancements.</a:t>
            </a:r>
          </a:p>
          <a:p>
            <a:pPr algn="l" marL="798826" indent="-399413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Initial Purpose: </a:t>
            </a:r>
            <a:r>
              <a:rPr lang="en-US" sz="36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Initially designed for local networks, Ethernet has grown to support high-speed, low-latency, and reliable connections across diverse networks, including MANs and WANs.</a:t>
            </a:r>
          </a:p>
          <a:p>
            <a:pPr algn="l" marL="798826" indent="-399413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IEEE 802.3 Role: </a:t>
            </a:r>
            <a:r>
              <a:rPr lang="en-US" sz="36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IEEE 802.3 working group played a critical role in updating Ethernet standards to improve speed, reliability, and adaptability.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 descr="Organic Abstract Rectangle Shape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Organic Abstract Rectangle Shape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610761" y="4513767"/>
            <a:ext cx="11066479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</a:pPr>
            <a:r>
              <a:rPr lang="en-US" b="true" sz="8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LITERATURE REVIEW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2056" y="254948"/>
            <a:ext cx="12383889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ORIGINAL INVENTION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99798" y="1590949"/>
            <a:ext cx="15028761" cy="8110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0403" indent="-390202" lvl="1">
              <a:lnSpc>
                <a:spcPts val="6072"/>
              </a:lnSpc>
              <a:buFont typeface="Arial"/>
              <a:buChar char="•"/>
            </a:pPr>
            <a:r>
              <a:rPr lang="en-US" sz="361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Conceived in the 1970s by Robert Metcalfe at Xerox PARC for high-speed local connectivity.</a:t>
            </a:r>
          </a:p>
          <a:p>
            <a:pPr algn="l" marL="780403" indent="-390202" lvl="1">
              <a:lnSpc>
                <a:spcPts val="6072"/>
              </a:lnSpc>
              <a:buFont typeface="Arial"/>
              <a:buChar char="•"/>
            </a:pPr>
            <a:r>
              <a:rPr lang="en-US" sz="361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Early networks lacked scalability, struggled with data collisions, and had limited flexibility.</a:t>
            </a:r>
          </a:p>
          <a:p>
            <a:pPr algn="l" marL="780403" indent="-390202" lvl="1">
              <a:lnSpc>
                <a:spcPts val="6072"/>
              </a:lnSpc>
              <a:buFont typeface="Arial"/>
              <a:buChar char="•"/>
            </a:pPr>
            <a:r>
              <a:rPr lang="en-US" sz="361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Ethernet used a coaxial cable in a bus topology, enabling multiple devices to share a communication line.</a:t>
            </a:r>
          </a:p>
          <a:p>
            <a:pPr algn="l" marL="780403" indent="-390202" lvl="1">
              <a:lnSpc>
                <a:spcPts val="6072"/>
              </a:lnSpc>
              <a:buFont typeface="Arial"/>
              <a:buChar char="•"/>
            </a:pPr>
            <a:r>
              <a:rPr lang="en-US" sz="361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Allowed devices to check if the line was clear before transmitting, minimizing collisions.</a:t>
            </a:r>
          </a:p>
          <a:p>
            <a:pPr algn="l">
              <a:lnSpc>
                <a:spcPts val="6072"/>
              </a:lnSpc>
            </a:pPr>
          </a:p>
          <a:p>
            <a:pPr algn="l">
              <a:lnSpc>
                <a:spcPts val="4794"/>
              </a:lnSpc>
            </a:pPr>
            <a:r>
              <a:rPr lang="en-US" sz="285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S. Tanenbaum and D. Wetherall, Computer Networks, 5th ed., Upper Saddle River, New Jersey: Pearson, 2010.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3768" y="345797"/>
            <a:ext cx="12383889" cy="1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9"/>
              </a:lnSpc>
            </a:pPr>
            <a:r>
              <a:rPr lang="en-US" b="true" sz="70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THICK ETHERNET (802.3-1985)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84608" y="1823603"/>
            <a:ext cx="15522209" cy="761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</a:p>
          <a:p>
            <a:pPr algn="l">
              <a:lnSpc>
                <a:spcPts val="6719"/>
              </a:lnSpc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First standard with coaxial cabling supporting 10 Mbps, designed for industrial and office LANs.</a:t>
            </a:r>
          </a:p>
          <a:p>
            <a:pPr algn="l" marL="863599" indent="-431800" lvl="1">
              <a:lnSpc>
                <a:spcPts val="67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Unmanageable, difficult to install, and costly.</a:t>
            </a:r>
          </a:p>
          <a:p>
            <a:pPr algn="l">
              <a:lnSpc>
                <a:spcPts val="6719"/>
              </a:lnSpc>
            </a:pPr>
          </a:p>
          <a:p>
            <a:pPr algn="l">
              <a:lnSpc>
                <a:spcPts val="6719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B. A. Forouzan, Data Communications and Networking, 4th ed., New York, New York: McGraw-Hill, 2007.  </a:t>
            </a: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W. Stallings, Data and Computer Communications, 10th ed., Upper Saddle River, New Jersey: Pearson, 2014. 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2056" y="336272"/>
            <a:ext cx="12383889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THIN ETHERNET (802.3A)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00591" y="1776515"/>
            <a:ext cx="15690243" cy="7406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</a:p>
          <a:p>
            <a:pPr algn="l">
              <a:lnSpc>
                <a:spcPts val="6719"/>
              </a:lnSpc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Introduced a thinner coaxial cable for easier and less costly installation; suitable for </a:t>
            </a: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smaller networks.</a:t>
            </a:r>
          </a:p>
          <a:p>
            <a:pPr algn="l" marL="863599" indent="-431800" lvl="1">
              <a:lnSpc>
                <a:spcPts val="67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Reduced range and ongoing susceptibility to collisions in shared media.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S. Tanenbaum and D. Wetherall, Computer Networks, 5th ed., Upper Saddle River, New Jersey: Pearson, 2010.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2056" y="169223"/>
            <a:ext cx="12383889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TWISTED PAIR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69057" y="1459552"/>
            <a:ext cx="15413728" cy="825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67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Supported 10 Mbps with UTP cables, enabling star topology with a central hub, ideal for office environments.</a:t>
            </a:r>
          </a:p>
          <a:p>
            <a:pPr algn="l" marL="863599" indent="-431800" lvl="1">
              <a:lnSpc>
                <a:spcPts val="67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Improved reliability by isolating faults, simplifying troubleshooting.</a:t>
            </a:r>
          </a:p>
          <a:p>
            <a:pPr algn="l" marL="863599" indent="-431800" lvl="1">
              <a:lnSpc>
                <a:spcPts val="67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Still half-duplex, requiring CSMA/CD for collision management.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B. A. Forouzan, Data Communications and Networking, 4th ed., New York, New York: McGraw-Hill, 2007.  </a:t>
            </a: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W. Stallings, Data and Computer Communications, 10th ed., Upper Saddle River, New Jersey: Pearson, 2014. 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2056" y="254948"/>
            <a:ext cx="12383889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FIBER OPTIC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38310" y="1768553"/>
            <a:ext cx="15814805" cy="803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67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Addressed demand for higher speed and long-distance data transmission, particularly in areas with electromagnetic interference.</a:t>
            </a:r>
          </a:p>
          <a:p>
            <a:pPr algn="l" marL="863599" indent="-431800" lvl="1">
              <a:lnSpc>
                <a:spcPts val="67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Provided high-speed connectivity over several kilometers, ideal for campus and MAN networks.</a:t>
            </a:r>
          </a:p>
          <a:p>
            <a:pPr algn="l" marL="863599" indent="-431800" lvl="1">
              <a:lnSpc>
                <a:spcPts val="67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Higher cost limited widespread use until faster networking demands emerged.</a:t>
            </a:r>
          </a:p>
          <a:p>
            <a:pPr algn="l">
              <a:lnSpc>
                <a:spcPts val="6719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S. Tanenbaum and D. Wetherall, Computer Networks, 5th ed., Upper Saddle River, New Jersey: Pearson, 2010.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2056" y="254948"/>
            <a:ext cx="12383889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SWITCHED ETHERNET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32124" y="1877309"/>
            <a:ext cx="16230600" cy="782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67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Classic Ethernet has problems (loose connections / breaks in connections)</a:t>
            </a:r>
          </a:p>
          <a:p>
            <a:pPr algn="l" marL="863599" indent="-431800" lvl="1">
              <a:lnSpc>
                <a:spcPts val="67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start using hubs</a:t>
            </a:r>
          </a:p>
          <a:p>
            <a:pPr algn="l" marL="863599" indent="-431800" lvl="1">
              <a:lnSpc>
                <a:spcPts val="67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connect wires electrically</a:t>
            </a:r>
          </a:p>
          <a:p>
            <a:pPr algn="l" marL="863599" indent="-431800" lvl="1">
              <a:lnSpc>
                <a:spcPts val="67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easier to add and remove stations, detect breaks</a:t>
            </a:r>
          </a:p>
          <a:p>
            <a:pPr algn="l" marL="863599" indent="-431800" lvl="1">
              <a:lnSpc>
                <a:spcPts val="67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more stations = smaller share of capacity (because hubs are logically equivalent to one long cable)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A. S. Tanenbaum and D. Wetherall, Computer Networks, 5th ed., Upper Saddle River, New Jersey: Pearson, 2010.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2056" y="439746"/>
            <a:ext cx="12383889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SWITCHED ETHERNET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04090" y="2801526"/>
            <a:ext cx="14814853" cy="674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 switch instead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4-48 ports, each with RJ-45 connector for twisted pair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when station sends frame to switch port, switch can forward it using indicated Ethernet address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A. S. Tanenbaum and D. Wetherall, Computer Networks, 5th ed., Upper Saddle River, New Jersey: Pearson, 2010.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2056" y="336272"/>
            <a:ext cx="12383889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SWITCHED ETHERNET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04090" y="3201921"/>
            <a:ext cx="14814853" cy="636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PROMISCUOUS MODE - all frames sent to all computers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hubs: all computer can see all traffic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switches: traffic only forwarded to destination ports = more security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A. S. Tanenbaum and D. Wetherall, Computer Networks, 5th ed., Upper Saddle River, New Jersey: Pearson, 2010.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9057" y="336272"/>
            <a:ext cx="15149885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FAST ETHERNET (802.3U)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15343"/>
            <a:ext cx="15686818" cy="725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10 Mbps becomes 100 Mbps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compatible with Standard Ethernet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maintain 48-bit address, frame format, maximum and minimum frame lengths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AUTONEGOTIATION</a:t>
            </a:r>
          </a:p>
          <a:p>
            <a:pPr algn="l" marL="1813560" indent="-604520" lvl="2">
              <a:lnSpc>
                <a:spcPts val="7056"/>
              </a:lnSpc>
              <a:buFont typeface="Arial"/>
              <a:buChar char="⚬"/>
            </a:pPr>
            <a:r>
              <a:rPr lang="en-US" sz="4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devices negotiate mode or data rate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B. A. Forouzan, Data Communications and Networking, 4th ed., New York, New York: McGraw-Hill, 2007.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9057" y="254948"/>
            <a:ext cx="15149885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FAST ETHERNET (802.3U)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04090" y="3103974"/>
            <a:ext cx="14814853" cy="648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100Base-TX - 2 pairs of STP or category 5 UTP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100Base-FX - 2 pairs of fiber optic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100Base-T4 - 4 pairs of category 3 or higher UTP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B. A. Forouzan, Data Communications and Networking, 4th ed., New York, New York: McGraw-Hill, 2007.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1456" y="254948"/>
            <a:ext cx="15149885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GIGABIT ETHERNET (802.3Z)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57490"/>
            <a:ext cx="16230600" cy="691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6384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 rate now 1000 Mbps</a:t>
            </a:r>
          </a:p>
          <a:p>
            <a:pPr algn="l" marL="820421" indent="-410210" lvl="1">
              <a:lnSpc>
                <a:spcPts val="6384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compatible with Standard and Fast Ethernet</a:t>
            </a:r>
          </a:p>
          <a:p>
            <a:pPr algn="l" marL="820421" indent="-410210" lvl="1">
              <a:lnSpc>
                <a:spcPts val="6384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maintains 48-bit address, frame formatting, min and max frame length</a:t>
            </a:r>
          </a:p>
          <a:p>
            <a:pPr algn="l" marL="820421" indent="-410210" lvl="1">
              <a:lnSpc>
                <a:spcPts val="6384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supports autonegotiation</a:t>
            </a:r>
          </a:p>
          <a:p>
            <a:pPr algn="l" marL="820421" indent="-410210" lvl="1">
              <a:lnSpc>
                <a:spcPts val="6384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allows point-to-point links via switches and broadcast channels via hubs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B. A. Forouzan, Data Communications and Networking, 4th ed., New York, New York: McGraw-Hill, 2007.</a:t>
            </a:r>
          </a:p>
          <a:p>
            <a:pPr algn="l">
              <a:lnSpc>
                <a:spcPts val="3360"/>
              </a:lnSpc>
            </a:pPr>
            <a:r>
              <a:rPr lang="en-US" sz="2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J. F. Kurose and K. W. Ross, Computer Networking: A Top-Down Approach, 7th ed., Hoboken, New Jersey: Pearson, 2017.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9057" y="336272"/>
            <a:ext cx="15149885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GIGABIT ETHERNET (802.3Z)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04090" y="2453418"/>
            <a:ext cx="14814853" cy="712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CARRIER EXTENSION</a:t>
            </a:r>
          </a:p>
          <a:p>
            <a:pPr algn="l" marL="1813557" indent="-604519" lvl="2">
              <a:lnSpc>
                <a:spcPts val="7055"/>
              </a:lnSpc>
              <a:buFont typeface="Arial"/>
              <a:buChar char="⚬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min frame length now 512 bytes (8x longer)</a:t>
            </a:r>
          </a:p>
          <a:p>
            <a:pPr algn="l" marL="1813557" indent="-604519" lvl="2">
              <a:lnSpc>
                <a:spcPts val="7055"/>
              </a:lnSpc>
              <a:buFont typeface="Arial"/>
              <a:buChar char="⚬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padding for shorter frames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B. A. Forouzan, Data Communications and Networking, 4th ed., New York, New York: McGraw-Hill, 2007.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0770" y="336272"/>
            <a:ext cx="15149885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GIGABIT ETHERNET (802.3Z)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2124" y="2638440"/>
            <a:ext cx="16227176" cy="6978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67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FRAME BURSTING</a:t>
            </a:r>
          </a:p>
          <a:p>
            <a:pPr algn="l" marL="1727199" indent="-575733" lvl="2">
              <a:lnSpc>
                <a:spcPts val="6719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carrier extension is inefficient when sending multiple short frames (data is redundant)</a:t>
            </a:r>
          </a:p>
          <a:p>
            <a:pPr algn="l" marL="1727199" indent="-575733" lvl="2">
              <a:lnSpc>
                <a:spcPts val="6719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send multiple frames </a:t>
            </a: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connected together using padding</a:t>
            </a:r>
          </a:p>
          <a:p>
            <a:pPr algn="l" marL="1727199" indent="-575733" lvl="2">
              <a:lnSpc>
                <a:spcPts val="6719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keeps the channel from being idle</a:t>
            </a:r>
          </a:p>
          <a:p>
            <a:pPr algn="l" marL="1727199" indent="-575733" lvl="2">
              <a:lnSpc>
                <a:spcPts val="6719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as if one big frame is being sent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B. A. Forouzan, Data Communications and Networking, 4th ed., New York, New York: McGraw-Hill, 2007.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9057" y="254948"/>
            <a:ext cx="15149885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GIGABIT ETHERNET (802.3Z)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04090" y="2894673"/>
            <a:ext cx="14814853" cy="674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1000Base-SX  - 2 wires of short-wave fiber optic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1000Base-LX  - 2 wires of long-wave fiber optic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1000Base-CX - 2 wires of STP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1000Base-T     - 4 wires of category 5 UTP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B. A. Forouzan, Data Communications and Networking, 4th ed., New York, New York: McGraw-Hill, 2007.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7722" y="2780373"/>
            <a:ext cx="15795981" cy="661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improvement on switched ethernet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instead of half-duplex (can only either send or receive)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two links (one for sending, one for receiving)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no need for carrier sensing and collision detection</a:t>
            </a:r>
          </a:p>
          <a:p>
            <a:pPr algn="l">
              <a:lnSpc>
                <a:spcPts val="7055"/>
              </a:lnSpc>
            </a:pPr>
          </a:p>
          <a:p>
            <a:pPr algn="l">
              <a:lnSpc>
                <a:spcPts val="7055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B. A. Forouzan, Data Communications and Networking, 4th ed., New York, New York: McGraw-Hill, 2007.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74478" y="264473"/>
            <a:ext cx="14739045" cy="126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49"/>
              </a:lnSpc>
            </a:pPr>
            <a:r>
              <a:rPr lang="en-US" b="true" sz="73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FULL-DUPLEX SWITCHED ETHERNET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40081"/>
            <a:ext cx="16230600" cy="686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587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collisions happen in half-duplex</a:t>
            </a:r>
          </a:p>
          <a:p>
            <a:pPr algn="l" marL="755647" indent="-377824" lvl="1">
              <a:lnSpc>
                <a:spcPts val="587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need Carrier Sense Multiple Access with Collision Detection (CSMA/CD) protocol</a:t>
            </a:r>
          </a:p>
          <a:p>
            <a:pPr algn="l" marL="755647" indent="-377824" lvl="1">
              <a:lnSpc>
                <a:spcPts val="587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carrier sense = wait until channel is empty before transmitting</a:t>
            </a:r>
          </a:p>
          <a:p>
            <a:pPr algn="l" marL="755647" indent="-377824" lvl="1">
              <a:lnSpc>
                <a:spcPts val="587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multiple access = interfaces have equal priority</a:t>
            </a:r>
          </a:p>
          <a:p>
            <a:pPr algn="l" marL="755647" indent="-377824" lvl="1">
              <a:lnSpc>
                <a:spcPts val="587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collision detection = if there’s a collision, stop transmitting and restart after a random time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A. S. Tanenbaum and D. Wetherall, Computer Networks, 5th ed., Upper Saddle River, New Jersey: Pearson, 2010.</a:t>
            </a:r>
          </a:p>
          <a:p>
            <a:pPr algn="l">
              <a:lnSpc>
                <a:spcPts val="3360"/>
              </a:lnSpc>
            </a:pPr>
            <a:r>
              <a:rPr lang="en-US" sz="2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C. E. Spurgeon, Ethernet: The Definitive Guide, 1st ed., M. Stone and C. Toporek, Eds., O'Reilly &amp; Associates, 2000.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26326" y="345797"/>
            <a:ext cx="14739045" cy="126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49"/>
              </a:lnSpc>
            </a:pPr>
            <a:r>
              <a:rPr lang="en-US" b="true" sz="73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FULL-DUPLEX SWITCHED ETHERNET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49888" y="2894673"/>
            <a:ext cx="14791648" cy="661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speed up -&gt; 10 Gbps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maintains 48-bit address, frame format, min and max frame lengths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compatible with Standard, Fast, Gigabit Ethernet</a:t>
            </a:r>
          </a:p>
          <a:p>
            <a:pPr algn="l">
              <a:lnSpc>
                <a:spcPts val="7055"/>
              </a:lnSpc>
            </a:pPr>
          </a:p>
          <a:p>
            <a:pPr algn="l">
              <a:lnSpc>
                <a:spcPts val="7055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B. A. Forouzan, Data Communications and Networking, 4th ed., New York, New York: McGraw-Hill, 2007.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556530" y="336272"/>
            <a:ext cx="11174940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TEN-GIGABIT ETHERNET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49888" y="3093374"/>
            <a:ext cx="14791648" cy="648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allows connection of existing LANs into a MAN or WAN</a:t>
            </a:r>
          </a:p>
          <a:p>
            <a:pPr algn="l" marL="906778" indent="-453389" lvl="1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only operates in full duplex mode, no CSMA/CD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B. A. Forouzan, Data Communications and Networking, 4th ed., New York, New York: McGraw-Hill, 2007.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556530" y="254948"/>
            <a:ext cx="11174940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TEN-GIGABIT ETHERNET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336272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10799" y="1909865"/>
            <a:ext cx="14469826" cy="771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76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Compared ChatGPT insights on Ethernet standards with the Literature Review (RRL).</a:t>
            </a:r>
          </a:p>
          <a:p>
            <a:pPr algn="l">
              <a:lnSpc>
                <a:spcPts val="3864"/>
              </a:lnSpc>
            </a:pPr>
            <a:r>
              <a:rPr lang="en-US" sz="276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Process:</a:t>
            </a:r>
          </a:p>
          <a:p>
            <a:pPr algn="l" marL="595900" indent="-297950" lvl="1">
              <a:lnSpc>
                <a:spcPts val="3864"/>
              </a:lnSpc>
              <a:buAutoNum type="arabicPeriod" startAt="1"/>
            </a:pPr>
            <a:r>
              <a:rPr lang="en-US" sz="276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Information Gathering: ChatGPT was queried on key Ethernet standards (e.g., Thick, Thin, Twisted Pair, Fiber Optic, Fast, Gigabit, Ten-Gigabit Ethernet).</a:t>
            </a:r>
          </a:p>
          <a:p>
            <a:pPr algn="l" marL="595900" indent="-297950" lvl="1">
              <a:lnSpc>
                <a:spcPts val="3864"/>
              </a:lnSpc>
              <a:buAutoNum type="arabicPeriod" startAt="1"/>
            </a:pPr>
            <a:r>
              <a:rPr lang="en-US" sz="276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Verification: Compared responses with RRL data to confirm accuracy.</a:t>
            </a:r>
          </a:p>
          <a:p>
            <a:pPr algn="l">
              <a:lnSpc>
                <a:spcPts val="3864"/>
              </a:lnSpc>
            </a:pPr>
          </a:p>
          <a:p>
            <a:pPr algn="l">
              <a:lnSpc>
                <a:spcPts val="3864"/>
              </a:lnSpc>
            </a:pPr>
            <a:r>
              <a:rPr lang="en-US" sz="276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Key Findings:</a:t>
            </a:r>
          </a:p>
          <a:p>
            <a:pPr algn="l" marL="595900" indent="-297950" lvl="1">
              <a:lnSpc>
                <a:spcPts val="3864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Consistent Information: Confirmed details on standards like Thick Ethernet (10 Mbps, coaxial), Thin Ethernet (easier installation), Fiber Optic Ethernet (long-distance, EMI-resistant), and Fast Ethernet (100 Mbps, UTP/fiber).</a:t>
            </a:r>
          </a:p>
          <a:p>
            <a:pPr algn="l" marL="595900" indent="-297950" lvl="1">
              <a:lnSpc>
                <a:spcPts val="3864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Additional Insights from ChatGPT: Applications for Fast, Gigabit, and Ten-Gigabit Ethernet.</a:t>
            </a:r>
          </a:p>
          <a:p>
            <a:pPr algn="l">
              <a:lnSpc>
                <a:spcPts val="3864"/>
              </a:lnSpc>
            </a:pPr>
          </a:p>
          <a:p>
            <a:pPr algn="l">
              <a:lnSpc>
                <a:spcPts val="3864"/>
              </a:lnSpc>
            </a:pPr>
            <a:r>
              <a:rPr lang="en-US" sz="276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Evaluation:</a:t>
            </a:r>
          </a:p>
          <a:p>
            <a:pPr algn="l" marL="595900" indent="-297950" lvl="1">
              <a:lnSpc>
                <a:spcPts val="3864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Advantage: ChatGPT provided accurate, supplementary insights.</a:t>
            </a:r>
          </a:p>
          <a:p>
            <a:pPr algn="l" marL="595900" indent="-297950" lvl="1">
              <a:lnSpc>
                <a:spcPts val="3864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Limitation: Lack of source citations limits verification.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336272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13375" y="2841090"/>
            <a:ext cx="14105567" cy="5105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3879" indent="-446940" lvl="1">
              <a:lnSpc>
                <a:spcPts val="5796"/>
              </a:lnSpc>
              <a:buFont typeface="Arial"/>
              <a:buChar char="•"/>
            </a:pPr>
            <a:r>
              <a:rPr lang="en-US" sz="4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many updates since creation</a:t>
            </a:r>
          </a:p>
          <a:p>
            <a:pPr algn="l" marL="893879" indent="-446940" lvl="1">
              <a:lnSpc>
                <a:spcPts val="5796"/>
              </a:lnSpc>
              <a:buFont typeface="Arial"/>
              <a:buChar char="•"/>
            </a:pPr>
            <a:r>
              <a:rPr lang="en-US" sz="4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improve performance or fix issues</a:t>
            </a:r>
          </a:p>
          <a:p>
            <a:pPr algn="l" marL="1787759" indent="-595920" lvl="2">
              <a:lnSpc>
                <a:spcPts val="5796"/>
              </a:lnSpc>
              <a:buFont typeface="Arial"/>
              <a:buChar char="⚬"/>
            </a:pPr>
            <a:r>
              <a:rPr lang="en-US" sz="4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faster speeds</a:t>
            </a:r>
          </a:p>
          <a:p>
            <a:pPr algn="l" marL="1787759" indent="-595920" lvl="2">
              <a:lnSpc>
                <a:spcPts val="5796"/>
              </a:lnSpc>
              <a:buFont typeface="Arial"/>
              <a:buChar char="⚬"/>
            </a:pPr>
            <a:r>
              <a:rPr lang="en-US" sz="4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address collisions</a:t>
            </a:r>
          </a:p>
          <a:p>
            <a:pPr algn="l" marL="1787759" indent="-595920" lvl="2">
              <a:lnSpc>
                <a:spcPts val="5796"/>
              </a:lnSpc>
              <a:buFont typeface="Arial"/>
              <a:buChar char="⚬"/>
            </a:pPr>
            <a:r>
              <a:rPr lang="en-US" sz="4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change in cabling</a:t>
            </a:r>
          </a:p>
          <a:p>
            <a:pPr algn="l" marL="1787759" indent="-595920" lvl="2">
              <a:lnSpc>
                <a:spcPts val="5796"/>
              </a:lnSpc>
              <a:buFont typeface="Arial"/>
              <a:buChar char="⚬"/>
            </a:pPr>
            <a:r>
              <a:rPr lang="en-US" sz="4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convenience (thick to thin, classic to switched)</a:t>
            </a:r>
          </a:p>
          <a:p>
            <a:pPr algn="l" marL="893879" indent="-446940" lvl="1">
              <a:lnSpc>
                <a:spcPts val="5796"/>
              </a:lnSpc>
              <a:buFont typeface="Arial"/>
              <a:buChar char="•"/>
            </a:pPr>
            <a:r>
              <a:rPr lang="en-US" sz="4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stay compatible with older standards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336272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23121" y="4029431"/>
            <a:ext cx="13245182" cy="262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ChatGPT gives same information as RRL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also gives some additional information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no sources so cannot be verified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336272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9057" y="2391989"/>
            <a:ext cx="15149885" cy="734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9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A. S. Tanenbaum and D. Wetherall, Computer Networks, 5th ed., Upper Saddle River, New Jersey: Pearson, 2010.</a:t>
            </a:r>
          </a:p>
          <a:p>
            <a:pPr algn="just">
              <a:lnSpc>
                <a:spcPts val="4149"/>
              </a:lnSpc>
            </a:pPr>
          </a:p>
          <a:p>
            <a:pPr algn="just">
              <a:lnSpc>
                <a:spcPts val="4149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B. A. Forouzan, Data Communications and Networking, 4th ed., New York, New York: McGraw-Hill, 2007.</a:t>
            </a:r>
          </a:p>
          <a:p>
            <a:pPr algn="just">
              <a:lnSpc>
                <a:spcPts val="4149"/>
              </a:lnSpc>
            </a:pPr>
          </a:p>
          <a:p>
            <a:pPr algn="just">
              <a:lnSpc>
                <a:spcPts val="4149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W. Stallings, Data and Computer Communications, 10th ed., Upper Saddle River, New Jersey: Pearson, 2014.</a:t>
            </a:r>
          </a:p>
          <a:p>
            <a:pPr algn="just">
              <a:lnSpc>
                <a:spcPts val="4149"/>
              </a:lnSpc>
            </a:pPr>
          </a:p>
          <a:p>
            <a:pPr algn="just">
              <a:lnSpc>
                <a:spcPts val="4149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J. F. Kurose and K. W. Ross, Computer Networking: A Top-Down Approach, 7th ed., Hoboken, New Jersey: Pearson, 2017.</a:t>
            </a:r>
          </a:p>
          <a:p>
            <a:pPr algn="just">
              <a:lnSpc>
                <a:spcPts val="4149"/>
              </a:lnSpc>
            </a:pPr>
          </a:p>
          <a:p>
            <a:pPr algn="just">
              <a:lnSpc>
                <a:spcPts val="4149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C. E. Spurgeon, Ethernet: The Definitive Guide, 1st ed., M. Stone and C. Toporek, Eds., O'Reilly &amp; Associates, 2000.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3218AAC4E429459E775E9109C55646" ma:contentTypeVersion="18" ma:contentTypeDescription="Create a new document." ma:contentTypeScope="" ma:versionID="bea61eed83e0ed763934b398db3d90de">
  <xsd:schema xmlns:xsd="http://www.w3.org/2001/XMLSchema" xmlns:xs="http://www.w3.org/2001/XMLSchema" xmlns:p="http://schemas.microsoft.com/office/2006/metadata/properties" xmlns:ns2="be4252e1-a284-42f1-8417-be526f46910e" xmlns:ns3="d0b5b3dc-0d07-4eb4-9e08-c2f386e9b290" targetNamespace="http://schemas.microsoft.com/office/2006/metadata/properties" ma:root="true" ma:fieldsID="883bf3949c065fe3b9f548aba6ba2314" ns2:_="" ns3:_="">
    <xsd:import namespace="be4252e1-a284-42f1-8417-be526f46910e"/>
    <xsd:import namespace="d0b5b3dc-0d07-4eb4-9e08-c2f386e9b2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4252e1-a284-42f1-8417-be526f4691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17685f-1dcd-4610-9ff9-a99fab4123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5b3dc-0d07-4eb4-9e08-c2f386e9b29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42b6c41-7373-4db8-be70-2ab8cc594e02}" ma:internalName="TaxCatchAll" ma:showField="CatchAllData" ma:web="d0b5b3dc-0d07-4eb4-9e08-c2f386e9b2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e4252e1-a284-42f1-8417-be526f46910e">
      <Terms xmlns="http://schemas.microsoft.com/office/infopath/2007/PartnerControls"/>
    </lcf76f155ced4ddcb4097134ff3c332f>
    <TaxCatchAll xmlns="d0b5b3dc-0d07-4eb4-9e08-c2f386e9b290" xsi:nil="true"/>
  </documentManagement>
</p:properties>
</file>

<file path=customXml/itemProps1.xml><?xml version="1.0" encoding="utf-8"?>
<ds:datastoreItem xmlns:ds="http://schemas.openxmlformats.org/officeDocument/2006/customXml" ds:itemID="{036C7931-64A3-456E-9913-69F8E3FACFC8}"/>
</file>

<file path=customXml/itemProps2.xml><?xml version="1.0" encoding="utf-8"?>
<ds:datastoreItem xmlns:ds="http://schemas.openxmlformats.org/officeDocument/2006/customXml" ds:itemID="{912E57A0-D507-448F-AE5D-7EA1E91E2F78}"/>
</file>

<file path=customXml/itemProps3.xml><?xml version="1.0" encoding="utf-8"?>
<ds:datastoreItem xmlns:ds="http://schemas.openxmlformats.org/officeDocument/2006/customXml" ds:itemID="{A9B2EDA0-311A-4CDA-B54B-4FBA6C903D2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NSS_S11-G02</dc:title>
  <cp:revision>1</cp:revision>
  <dcterms:created xsi:type="dcterms:W3CDTF">2006-08-16T00:00:00Z</dcterms:created>
  <dcterms:modified xsi:type="dcterms:W3CDTF">2011-08-01T06:04:30Z</dcterms:modified>
  <dc:identifier>DAGWeTwqzXc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0x0101003B3218AAC4E429459E775E9109C55646</vt:lpwstr>
  </property>
</Properties>
</file>